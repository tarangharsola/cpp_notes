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367" r:id="rId21"/>
    <p:sldId id="368" r:id="rId22"/>
    <p:sldId id="369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632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1436" y="191465"/>
            <a:ext cx="7901127" cy="1245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63370"/>
            <a:ext cx="8023859" cy="433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73.png"/><Relationship Id="rId18" Type="http://schemas.openxmlformats.org/officeDocument/2006/relationships/image" Target="../media/image96.png"/><Relationship Id="rId3" Type="http://schemas.openxmlformats.org/officeDocument/2006/relationships/image" Target="../media/image85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95.png"/><Relationship Id="rId2" Type="http://schemas.openxmlformats.org/officeDocument/2006/relationships/image" Target="../media/image84.png"/><Relationship Id="rId16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91.png"/><Relationship Id="rId5" Type="http://schemas.openxmlformats.org/officeDocument/2006/relationships/image" Target="../media/image66.png"/><Relationship Id="rId15" Type="http://schemas.openxmlformats.org/officeDocument/2006/relationships/image" Target="../media/image93.png"/><Relationship Id="rId10" Type="http://schemas.openxmlformats.org/officeDocument/2006/relationships/image" Target="../media/image90.png"/><Relationship Id="rId19" Type="http://schemas.openxmlformats.org/officeDocument/2006/relationships/image" Target="../media/image97.png"/><Relationship Id="rId4" Type="http://schemas.openxmlformats.org/officeDocument/2006/relationships/image" Target="../media/image86.png"/><Relationship Id="rId9" Type="http://schemas.openxmlformats.org/officeDocument/2006/relationships/image" Target="../media/image89.png"/><Relationship Id="rId14" Type="http://schemas.openxmlformats.org/officeDocument/2006/relationships/image" Target="../media/image92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7116" y="2145868"/>
            <a:ext cx="651192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DATA</a:t>
            </a:r>
            <a:r>
              <a:rPr spc="-40" dirty="0"/>
              <a:t> </a:t>
            </a:r>
            <a:r>
              <a:rPr dirty="0"/>
              <a:t>STRUCTURES</a:t>
            </a:r>
            <a:r>
              <a:rPr spc="-135" dirty="0"/>
              <a:t> </a:t>
            </a:r>
            <a:r>
              <a:rPr dirty="0"/>
              <a:t>–</a:t>
            </a:r>
            <a:r>
              <a:rPr spc="-100" dirty="0"/>
              <a:t> </a:t>
            </a:r>
            <a:r>
              <a:rPr spc="-35" dirty="0"/>
              <a:t>Trees</a:t>
            </a:r>
            <a:r>
              <a:rPr spc="-95" dirty="0"/>
              <a:t> </a:t>
            </a:r>
            <a:r>
              <a:rPr spc="-60" dirty="0"/>
              <a:t>&amp;</a:t>
            </a:r>
          </a:p>
          <a:p>
            <a:pPr algn="ctr">
              <a:lnSpc>
                <a:spcPct val="100000"/>
              </a:lnSpc>
            </a:pPr>
            <a:r>
              <a:rPr spc="-10" dirty="0"/>
              <a:t>Hashing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722755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Trees</a:t>
            </a:r>
            <a:r>
              <a:rPr spc="-100" dirty="0"/>
              <a:t> </a:t>
            </a:r>
            <a:r>
              <a:rPr dirty="0"/>
              <a:t>-</a:t>
            </a:r>
            <a:r>
              <a:rPr spc="-85" dirty="0"/>
              <a:t> </a:t>
            </a: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0613"/>
            <a:ext cx="7800340" cy="2244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nonlinear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hierarchical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structure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that </a:t>
            </a:r>
            <a:r>
              <a:rPr sz="2800" dirty="0">
                <a:latin typeface="Calibri"/>
                <a:cs typeface="Calibri"/>
              </a:rPr>
              <a:t>consists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nodes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connected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edges.</a:t>
            </a:r>
            <a:endParaRPr sz="2800">
              <a:latin typeface="Calibri"/>
              <a:cs typeface="Calibri"/>
            </a:endParaRPr>
          </a:p>
          <a:p>
            <a:pPr marL="355600" marR="381635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</a:tabLst>
            </a:pPr>
            <a:r>
              <a:rPr sz="2800" spc="-20" dirty="0">
                <a:latin typeface="Calibri"/>
                <a:cs typeface="Calibri"/>
              </a:rPr>
              <a:t>Different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structures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allow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quicker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easier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non-</a:t>
            </a:r>
            <a:r>
              <a:rPr sz="2800" dirty="0">
                <a:latin typeface="Calibri"/>
                <a:cs typeface="Calibri"/>
              </a:rPr>
              <a:t>linear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 </a:t>
            </a:r>
            <a:r>
              <a:rPr sz="2800" spc="-10" dirty="0">
                <a:latin typeface="Calibri"/>
                <a:cs typeface="Calibri"/>
              </a:rPr>
              <a:t>structure.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6125" y="4071937"/>
            <a:ext cx="2381250" cy="2409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814195">
              <a:lnSpc>
                <a:spcPct val="100000"/>
              </a:lnSpc>
              <a:spcBef>
                <a:spcPts val="105"/>
              </a:spcBef>
            </a:pPr>
            <a:r>
              <a:rPr dirty="0"/>
              <a:t>Properties</a:t>
            </a:r>
            <a:r>
              <a:rPr spc="-8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55" dirty="0"/>
              <a:t>Trees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21320" cy="37331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There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only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path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between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every </a:t>
            </a:r>
            <a:r>
              <a:rPr sz="3200" dirty="0">
                <a:latin typeface="Calibri"/>
                <a:cs typeface="Calibri"/>
              </a:rPr>
              <a:t>pair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vertices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tree.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tree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vertices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n-1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edges.</a:t>
            </a:r>
            <a:endParaRPr sz="3200">
              <a:latin typeface="Calibri"/>
              <a:cs typeface="Calibri"/>
            </a:endParaRPr>
          </a:p>
          <a:p>
            <a:pPr marL="355600" marR="168275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graph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tree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if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if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only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if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minimally connected.</a:t>
            </a:r>
            <a:endParaRPr sz="3200">
              <a:latin typeface="Calibri"/>
              <a:cs typeface="Calibri"/>
            </a:endParaRPr>
          </a:p>
          <a:p>
            <a:pPr marL="355600" marR="30416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Any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connected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graph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vertices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n-</a:t>
            </a:r>
            <a:r>
              <a:rPr sz="3200" spc="-50" dirty="0">
                <a:latin typeface="Calibri"/>
                <a:cs typeface="Calibri"/>
              </a:rPr>
              <a:t>1 </a:t>
            </a:r>
            <a:r>
              <a:rPr sz="3200" dirty="0">
                <a:latin typeface="Calibri"/>
                <a:cs typeface="Calibri"/>
              </a:rPr>
              <a:t>edges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tree.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951355">
              <a:lnSpc>
                <a:spcPct val="100000"/>
              </a:lnSpc>
              <a:spcBef>
                <a:spcPts val="105"/>
              </a:spcBef>
            </a:pPr>
            <a:r>
              <a:rPr b="1" spc="-20" dirty="0">
                <a:latin typeface="Calibri"/>
                <a:cs typeface="Calibri"/>
              </a:rPr>
              <a:t>Tree</a:t>
            </a:r>
            <a:r>
              <a:rPr b="1" spc="-21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6794"/>
            <a:ext cx="7971790" cy="450723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marR="296545" indent="-342900">
              <a:lnSpc>
                <a:spcPct val="80000"/>
              </a:lnSpc>
              <a:spcBef>
                <a:spcPts val="820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Binary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Search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50" dirty="0">
                <a:latin typeface="Calibri"/>
                <a:cs typeface="Calibri"/>
              </a:rPr>
              <a:t>Trees(BSTs)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are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used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quickly </a:t>
            </a:r>
            <a:r>
              <a:rPr sz="3000" dirty="0">
                <a:latin typeface="Calibri"/>
                <a:cs typeface="Calibri"/>
              </a:rPr>
              <a:t>check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whether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element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present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set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or </a:t>
            </a:r>
            <a:r>
              <a:rPr sz="3000" spc="-20" dirty="0">
                <a:latin typeface="Calibri"/>
                <a:cs typeface="Calibri"/>
              </a:rPr>
              <a:t>not.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Heap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kind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tree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used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heap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sort.</a:t>
            </a:r>
            <a:endParaRPr sz="3000">
              <a:latin typeface="Calibri"/>
              <a:cs typeface="Calibri"/>
            </a:endParaRPr>
          </a:p>
          <a:p>
            <a:pPr marL="355600" marR="5080" indent="-342900">
              <a:lnSpc>
                <a:spcPts val="2880"/>
              </a:lnSpc>
              <a:spcBef>
                <a:spcPts val="695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A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modified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version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tree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called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Tries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used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in </a:t>
            </a:r>
            <a:r>
              <a:rPr sz="3000" dirty="0">
                <a:latin typeface="Calibri"/>
                <a:cs typeface="Calibri"/>
              </a:rPr>
              <a:t>modern</a:t>
            </a:r>
            <a:r>
              <a:rPr sz="3000" spc="-1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routers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store</a:t>
            </a:r>
            <a:r>
              <a:rPr sz="3000" spc="-1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routing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information.</a:t>
            </a:r>
            <a:endParaRPr sz="3000">
              <a:latin typeface="Calibri"/>
              <a:cs typeface="Calibri"/>
            </a:endParaRPr>
          </a:p>
          <a:p>
            <a:pPr marL="355600" marR="57785" indent="-342900">
              <a:lnSpc>
                <a:spcPts val="2880"/>
              </a:lnSpc>
              <a:spcBef>
                <a:spcPts val="720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Most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popular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databases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B-</a:t>
            </a:r>
            <a:r>
              <a:rPr sz="3000" spc="-40" dirty="0">
                <a:latin typeface="Calibri"/>
                <a:cs typeface="Calibri"/>
              </a:rPr>
              <a:t>Trees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T-Trees, </a:t>
            </a:r>
            <a:r>
              <a:rPr sz="3000" dirty="0">
                <a:latin typeface="Calibri"/>
                <a:cs typeface="Calibri"/>
              </a:rPr>
              <a:t>which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are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variants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tree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structure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we </a:t>
            </a:r>
            <a:r>
              <a:rPr sz="3000" dirty="0">
                <a:latin typeface="Calibri"/>
                <a:cs typeface="Calibri"/>
              </a:rPr>
              <a:t>learned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above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store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their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data</a:t>
            </a:r>
            <a:endParaRPr sz="3000">
              <a:latin typeface="Calibri"/>
              <a:cs typeface="Calibri"/>
            </a:endParaRPr>
          </a:p>
          <a:p>
            <a:pPr marL="355600" marR="5080" indent="-342900">
              <a:lnSpc>
                <a:spcPct val="80000"/>
              </a:lnSpc>
              <a:spcBef>
                <a:spcPts val="750"/>
              </a:spcBef>
              <a:buFont typeface="Arial"/>
              <a:buChar char="•"/>
              <a:tabLst>
                <a:tab pos="355600" algn="l"/>
              </a:tabLst>
            </a:pPr>
            <a:r>
              <a:rPr sz="3000" spc="-10" dirty="0">
                <a:latin typeface="Calibri"/>
                <a:cs typeface="Calibri"/>
              </a:rPr>
              <a:t>Compilers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syntax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tree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validate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syntax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every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program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you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write.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829435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Tree</a:t>
            </a:r>
            <a:r>
              <a:rPr spc="-180" dirty="0"/>
              <a:t> </a:t>
            </a:r>
            <a:r>
              <a:rPr spc="-10" dirty="0"/>
              <a:t>terminologies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6709"/>
            <a:ext cx="7853680" cy="2404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2000" b="1" dirty="0">
                <a:latin typeface="Calibri"/>
                <a:cs typeface="Calibri"/>
              </a:rPr>
              <a:t>Node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key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pointers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its </a:t>
            </a:r>
            <a:r>
              <a:rPr sz="2000" dirty="0">
                <a:latin typeface="Calibri"/>
                <a:cs typeface="Calibri"/>
              </a:rPr>
              <a:t>child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nodes.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last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leaf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nodes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or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external</a:t>
            </a:r>
            <a:endParaRPr sz="20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nodes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link/pointer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child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nodes.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least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child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internal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node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</a:tabLst>
            </a:pPr>
            <a:r>
              <a:rPr sz="2000" b="1" dirty="0">
                <a:latin typeface="Calibri"/>
                <a:cs typeface="Calibri"/>
              </a:rPr>
              <a:t>Edge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link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nodes.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</a:tabLst>
            </a:pPr>
            <a:r>
              <a:rPr sz="2000" b="1" dirty="0">
                <a:latin typeface="Calibri"/>
                <a:cs typeface="Calibri"/>
              </a:rPr>
              <a:t>Root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-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topmost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tree.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5998" y="4143375"/>
            <a:ext cx="3514725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829435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Tree</a:t>
            </a:r>
            <a:r>
              <a:rPr spc="-180" dirty="0"/>
              <a:t> </a:t>
            </a:r>
            <a:r>
              <a:rPr spc="-10" dirty="0"/>
              <a:t>terminologies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0623" y="2276462"/>
            <a:ext cx="573405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3415029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Root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6359"/>
            <a:ext cx="7533005" cy="112331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first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originates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root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node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root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node.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We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never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multiple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root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structure.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500" y="3405187"/>
            <a:ext cx="421005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340106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Edge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3661"/>
            <a:ext cx="7306945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270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connecting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edge</a:t>
            </a:r>
            <a:r>
              <a:rPr sz="2400" spc="-2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exactly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(n-</a:t>
            </a:r>
            <a:r>
              <a:rPr sz="2400" spc="-25" dirty="0">
                <a:latin typeface="Calibri"/>
                <a:cs typeface="Calibri"/>
              </a:rPr>
              <a:t>1)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edges.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2148" y="3552825"/>
            <a:ext cx="4210050" cy="2686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15334" y="461594"/>
            <a:ext cx="15157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Parent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6709"/>
            <a:ext cx="7584440" cy="16725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9751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branch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other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25" dirty="0">
                <a:latin typeface="Calibri"/>
                <a:cs typeface="Calibri"/>
              </a:rPr>
              <a:t> as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parent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node</a:t>
            </a:r>
            <a:r>
              <a:rPr sz="2000" spc="-2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other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words,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children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parent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node.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parent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child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nodes.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799" y="3562350"/>
            <a:ext cx="4324350" cy="31813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39281" y="4927491"/>
            <a:ext cx="3151562" cy="13258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33782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Child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3661"/>
            <a:ext cx="7465059" cy="1196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descendant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child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node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All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except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root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child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nodes.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755" y="3768130"/>
            <a:ext cx="5199802" cy="2346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86526" y="4772037"/>
            <a:ext cx="276225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309372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Siblings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0506"/>
            <a:ext cx="8020050" cy="9042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Nodes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belong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siblings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parent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sibling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nodes.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9481" y="2960184"/>
            <a:ext cx="3499189" cy="31042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72150" y="4005326"/>
            <a:ext cx="1914525" cy="8477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313436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Degree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0506"/>
            <a:ext cx="8044815" cy="12693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dirty="0">
                <a:latin typeface="Calibri"/>
                <a:cs typeface="Calibri"/>
              </a:rPr>
              <a:t>Degree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node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total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children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node.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dirty="0">
                <a:latin typeface="Calibri"/>
                <a:cs typeface="Calibri"/>
              </a:rPr>
              <a:t>Degree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highest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degree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nodes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tree.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698" y="3417692"/>
            <a:ext cx="5201450" cy="238500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7551" y="3300412"/>
            <a:ext cx="142875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418080">
              <a:lnSpc>
                <a:spcPct val="100000"/>
              </a:lnSpc>
              <a:spcBef>
                <a:spcPts val="105"/>
              </a:spcBef>
            </a:pPr>
            <a:r>
              <a:rPr dirty="0"/>
              <a:t>Internal</a:t>
            </a:r>
            <a:r>
              <a:rPr spc="-110" dirty="0"/>
              <a:t> </a:t>
            </a:r>
            <a:r>
              <a:rPr spc="-20" dirty="0"/>
              <a:t>node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3661"/>
            <a:ext cx="7810500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child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internal node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non-</a:t>
            </a:r>
            <a:r>
              <a:rPr sz="2400" b="1" dirty="0">
                <a:latin typeface="Calibri"/>
                <a:cs typeface="Calibri"/>
              </a:rPr>
              <a:t>terminal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nodes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Every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non-</a:t>
            </a:r>
            <a:r>
              <a:rPr sz="2400" dirty="0">
                <a:latin typeface="Calibri"/>
                <a:cs typeface="Calibri"/>
              </a:rPr>
              <a:t>leaf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internal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node.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7292" y="3548758"/>
            <a:ext cx="4950410" cy="27689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832735">
              <a:lnSpc>
                <a:spcPct val="100000"/>
              </a:lnSpc>
              <a:spcBef>
                <a:spcPts val="105"/>
              </a:spcBef>
            </a:pPr>
            <a:r>
              <a:rPr dirty="0"/>
              <a:t>Leaf</a:t>
            </a:r>
            <a:r>
              <a:rPr spc="-45" dirty="0"/>
              <a:t> </a:t>
            </a:r>
            <a:r>
              <a:rPr spc="-20" dirty="0"/>
              <a:t>node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3661"/>
            <a:ext cx="7449820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child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leaf </a:t>
            </a:r>
            <a:r>
              <a:rPr sz="2400" b="1" spc="-10" dirty="0">
                <a:latin typeface="Calibri"/>
                <a:cs typeface="Calibri"/>
              </a:rPr>
              <a:t>node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355600" marR="161925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Leaf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external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nodes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terminal nodes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1287" y="3389398"/>
            <a:ext cx="3523504" cy="31488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336804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Level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2991" rIns="0" bIns="0" rtlCol="0">
            <a:spAutoFit/>
          </a:bodyPr>
          <a:lstStyle/>
          <a:p>
            <a:pPr marL="355600" marR="25019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/>
              <a:t>In</a:t>
            </a:r>
            <a:r>
              <a:rPr sz="2400" spc="-70" dirty="0"/>
              <a:t> </a:t>
            </a:r>
            <a:r>
              <a:rPr sz="2400" dirty="0"/>
              <a:t>a</a:t>
            </a:r>
            <a:r>
              <a:rPr sz="2400" spc="-45" dirty="0"/>
              <a:t> </a:t>
            </a:r>
            <a:r>
              <a:rPr sz="2400" dirty="0"/>
              <a:t>tree,</a:t>
            </a:r>
            <a:r>
              <a:rPr sz="2400" spc="-55" dirty="0"/>
              <a:t> </a:t>
            </a:r>
            <a:r>
              <a:rPr sz="2400" dirty="0"/>
              <a:t>each</a:t>
            </a:r>
            <a:r>
              <a:rPr sz="2400" spc="-55" dirty="0"/>
              <a:t> </a:t>
            </a:r>
            <a:r>
              <a:rPr sz="2400" dirty="0"/>
              <a:t>step</a:t>
            </a:r>
            <a:r>
              <a:rPr sz="2400" spc="-50" dirty="0"/>
              <a:t> </a:t>
            </a:r>
            <a:r>
              <a:rPr sz="2400" dirty="0"/>
              <a:t>from</a:t>
            </a:r>
            <a:r>
              <a:rPr sz="2400" spc="-60" dirty="0"/>
              <a:t> </a:t>
            </a:r>
            <a:r>
              <a:rPr sz="2400" dirty="0"/>
              <a:t>top</a:t>
            </a:r>
            <a:r>
              <a:rPr sz="2400" spc="-45" dirty="0"/>
              <a:t> </a:t>
            </a:r>
            <a:r>
              <a:rPr sz="2400" dirty="0"/>
              <a:t>to</a:t>
            </a:r>
            <a:r>
              <a:rPr sz="2400" spc="-50" dirty="0"/>
              <a:t> </a:t>
            </a:r>
            <a:r>
              <a:rPr sz="2400" dirty="0"/>
              <a:t>bottom</a:t>
            </a:r>
            <a:r>
              <a:rPr sz="2400" spc="-60" dirty="0"/>
              <a:t> </a:t>
            </a:r>
            <a:r>
              <a:rPr sz="2400" dirty="0"/>
              <a:t>is</a:t>
            </a:r>
            <a:r>
              <a:rPr sz="2400" spc="-45" dirty="0"/>
              <a:t> </a:t>
            </a:r>
            <a:r>
              <a:rPr sz="2400" dirty="0"/>
              <a:t>called</a:t>
            </a:r>
            <a:r>
              <a:rPr sz="2400" spc="-60" dirty="0"/>
              <a:t> </a:t>
            </a:r>
            <a:r>
              <a:rPr sz="2400" dirty="0"/>
              <a:t>as</a:t>
            </a:r>
            <a:r>
              <a:rPr sz="2400" spc="-30" dirty="0"/>
              <a:t> </a:t>
            </a:r>
            <a:r>
              <a:rPr sz="2400" b="1" dirty="0">
                <a:latin typeface="Calibri"/>
                <a:cs typeface="Calibri"/>
              </a:rPr>
              <a:t>level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a </a:t>
            </a:r>
            <a:r>
              <a:rPr sz="2400" b="1" spc="-10" dirty="0">
                <a:latin typeface="Calibri"/>
                <a:cs typeface="Calibri"/>
              </a:rPr>
              <a:t>tree</a:t>
            </a:r>
            <a:r>
              <a:rPr sz="2400" spc="-10" dirty="0"/>
              <a:t>.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/>
              <a:t>The</a:t>
            </a:r>
            <a:r>
              <a:rPr sz="2400" spc="-40" dirty="0"/>
              <a:t> </a:t>
            </a:r>
            <a:r>
              <a:rPr sz="2400" dirty="0"/>
              <a:t>level</a:t>
            </a:r>
            <a:r>
              <a:rPr sz="2400" spc="-35" dirty="0"/>
              <a:t> </a:t>
            </a:r>
            <a:r>
              <a:rPr sz="2400" dirty="0"/>
              <a:t>count</a:t>
            </a:r>
            <a:r>
              <a:rPr sz="2400" spc="-45" dirty="0"/>
              <a:t> </a:t>
            </a:r>
            <a:r>
              <a:rPr sz="2400" dirty="0"/>
              <a:t>starts</a:t>
            </a:r>
            <a:r>
              <a:rPr sz="2400" spc="-60" dirty="0"/>
              <a:t> </a:t>
            </a:r>
            <a:r>
              <a:rPr sz="2400" dirty="0"/>
              <a:t>with</a:t>
            </a:r>
            <a:r>
              <a:rPr sz="2400" spc="-40" dirty="0"/>
              <a:t> </a:t>
            </a:r>
            <a:r>
              <a:rPr sz="2400" dirty="0"/>
              <a:t>0</a:t>
            </a:r>
            <a:r>
              <a:rPr sz="2400" spc="-60" dirty="0"/>
              <a:t> </a:t>
            </a:r>
            <a:r>
              <a:rPr sz="2400" dirty="0"/>
              <a:t>and</a:t>
            </a:r>
            <a:r>
              <a:rPr sz="2400" spc="-45" dirty="0"/>
              <a:t> </a:t>
            </a:r>
            <a:r>
              <a:rPr sz="2400" spc="-10" dirty="0"/>
              <a:t>increments</a:t>
            </a:r>
            <a:r>
              <a:rPr sz="2400" spc="-55" dirty="0"/>
              <a:t> </a:t>
            </a:r>
            <a:r>
              <a:rPr sz="2400" dirty="0"/>
              <a:t>by</a:t>
            </a:r>
            <a:r>
              <a:rPr sz="2400" spc="-35" dirty="0"/>
              <a:t> </a:t>
            </a:r>
            <a:r>
              <a:rPr sz="2400" dirty="0"/>
              <a:t>1</a:t>
            </a:r>
            <a:r>
              <a:rPr sz="2400" spc="-40" dirty="0"/>
              <a:t> </a:t>
            </a:r>
            <a:r>
              <a:rPr sz="2400" dirty="0"/>
              <a:t>at</a:t>
            </a:r>
            <a:r>
              <a:rPr sz="2400" spc="-50" dirty="0"/>
              <a:t> </a:t>
            </a:r>
            <a:r>
              <a:rPr sz="2400" dirty="0"/>
              <a:t>each</a:t>
            </a:r>
            <a:r>
              <a:rPr sz="2400" spc="-50" dirty="0"/>
              <a:t> </a:t>
            </a:r>
            <a:r>
              <a:rPr sz="2400" spc="-10" dirty="0"/>
              <a:t>level </a:t>
            </a:r>
            <a:r>
              <a:rPr sz="2400" dirty="0"/>
              <a:t>or</a:t>
            </a:r>
            <a:r>
              <a:rPr sz="2400" spc="-20" dirty="0"/>
              <a:t> </a:t>
            </a:r>
            <a:r>
              <a:rPr sz="2400" spc="-10" dirty="0"/>
              <a:t>step.</a:t>
            </a:r>
            <a:endParaRPr sz="2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8325" y="3486150"/>
            <a:ext cx="5438775" cy="26860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32016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Height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6709"/>
            <a:ext cx="789940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35" dirty="0">
                <a:latin typeface="Calibri"/>
                <a:cs typeface="Calibri"/>
              </a:rPr>
              <a:t>Total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edges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longest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particular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height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that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node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</a:tabLst>
            </a:pPr>
            <a:r>
              <a:rPr sz="2000" b="1" dirty="0">
                <a:latin typeface="Calibri"/>
                <a:cs typeface="Calibri"/>
              </a:rPr>
              <a:t>Height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tree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height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root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node.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Height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056" y="3559387"/>
            <a:ext cx="5204920" cy="21259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91376" y="3505200"/>
            <a:ext cx="13716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325183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Depth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1904"/>
            <a:ext cx="7800340" cy="144018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354965" algn="l"/>
              </a:tabLst>
            </a:pPr>
            <a:r>
              <a:rPr sz="1600" spc="-25" dirty="0">
                <a:latin typeface="Calibri"/>
                <a:cs typeface="Calibri"/>
              </a:rPr>
              <a:t>Total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edges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root node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particular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node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called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depth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of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that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node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354965" algn="l"/>
              </a:tabLst>
            </a:pPr>
            <a:r>
              <a:rPr sz="1600" b="1" dirty="0">
                <a:latin typeface="Calibri"/>
                <a:cs typeface="Calibri"/>
              </a:rPr>
              <a:t>Depth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of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tree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total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edges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root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longest</a:t>
            </a:r>
            <a:endParaRPr sz="16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path.</a:t>
            </a: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354965" algn="l"/>
              </a:tabLst>
            </a:pPr>
            <a:r>
              <a:rPr sz="1600" dirty="0">
                <a:latin typeface="Calibri"/>
                <a:cs typeface="Calibri"/>
              </a:rPr>
              <a:t>Depth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root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node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0</a:t>
            </a: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354965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terms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“level”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“depth”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interchangeably.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255" y="3600675"/>
            <a:ext cx="5373069" cy="22060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34251" y="3638550"/>
            <a:ext cx="1343025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306324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Subtree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0506"/>
            <a:ext cx="7857490" cy="9042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child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subtree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recursively.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Every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child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subtree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node.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0700" y="2919412"/>
            <a:ext cx="5353050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53434" y="461594"/>
            <a:ext cx="14401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Forest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56432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forest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disjoint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trees.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7348" y="3262312"/>
            <a:ext cx="4210050" cy="23812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D0B17-AA4B-DDEA-BD8E-2C3ECC47C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436" y="191465"/>
            <a:ext cx="7901127" cy="677108"/>
          </a:xfrm>
        </p:spPr>
        <p:txBody>
          <a:bodyPr/>
          <a:lstStyle/>
          <a:p>
            <a:r>
              <a:rPr lang="en-IN" dirty="0"/>
              <a:t>Code a Tree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A101B-E598-022A-FCDF-A67E8A2A3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8102599" cy="6001643"/>
          </a:xfrm>
        </p:spPr>
        <p:txBody>
          <a:bodyPr/>
          <a:lstStyle/>
          <a:p>
            <a:r>
              <a:rPr lang="en-IN" dirty="0"/>
              <a:t>#include &lt;vector&gt;</a:t>
            </a:r>
          </a:p>
          <a:p>
            <a:r>
              <a:rPr lang="en-IN" dirty="0"/>
              <a:t>using namespace std;</a:t>
            </a:r>
          </a:p>
          <a:p>
            <a:r>
              <a:rPr lang="en-IN" dirty="0"/>
              <a:t>class </a:t>
            </a:r>
            <a:r>
              <a:rPr lang="en-IN" dirty="0" err="1"/>
              <a:t>TreeNode</a:t>
            </a:r>
            <a:r>
              <a:rPr lang="en-IN" dirty="0"/>
              <a:t> {</a:t>
            </a:r>
          </a:p>
          <a:p>
            <a:r>
              <a:rPr lang="en-IN" dirty="0"/>
              <a:t>public:</a:t>
            </a:r>
          </a:p>
          <a:p>
            <a:r>
              <a:rPr lang="en-IN" dirty="0"/>
              <a:t>    int data;</a:t>
            </a:r>
          </a:p>
          <a:p>
            <a:r>
              <a:rPr lang="en-IN" dirty="0"/>
              <a:t>    vector&lt;</a:t>
            </a:r>
            <a:r>
              <a:rPr lang="en-IN" dirty="0" err="1"/>
              <a:t>TreeNode</a:t>
            </a:r>
            <a:r>
              <a:rPr lang="en-IN" dirty="0"/>
              <a:t>*&gt; children;</a:t>
            </a:r>
          </a:p>
          <a:p>
            <a:r>
              <a:rPr lang="en-IN" dirty="0"/>
              <a:t>    </a:t>
            </a:r>
            <a:r>
              <a:rPr lang="en-IN" dirty="0" err="1"/>
              <a:t>TreeNode</a:t>
            </a:r>
            <a:r>
              <a:rPr lang="en-IN" dirty="0"/>
              <a:t>(int value) {</a:t>
            </a:r>
          </a:p>
          <a:p>
            <a:r>
              <a:rPr lang="en-IN" dirty="0"/>
              <a:t>        data = value; }</a:t>
            </a:r>
          </a:p>
          <a:p>
            <a:endParaRPr lang="en-IN" dirty="0"/>
          </a:p>
          <a:p>
            <a:r>
              <a:rPr lang="en-IN" dirty="0"/>
              <a:t>    void </a:t>
            </a:r>
            <a:r>
              <a:rPr lang="en-IN" dirty="0" err="1"/>
              <a:t>addChild</a:t>
            </a:r>
            <a:r>
              <a:rPr lang="en-IN" dirty="0"/>
              <a:t>(</a:t>
            </a:r>
            <a:r>
              <a:rPr lang="en-IN" dirty="0" err="1"/>
              <a:t>TreeNode</a:t>
            </a:r>
            <a:r>
              <a:rPr lang="en-IN" dirty="0"/>
              <a:t>* child) {</a:t>
            </a:r>
          </a:p>
          <a:p>
            <a:r>
              <a:rPr lang="en-IN" dirty="0"/>
              <a:t>        </a:t>
            </a:r>
            <a:r>
              <a:rPr lang="en-IN" dirty="0" err="1"/>
              <a:t>children.push_back</a:t>
            </a:r>
            <a:r>
              <a:rPr lang="en-IN" dirty="0"/>
              <a:t>(child);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411329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1F1D7-B8BB-6FC2-2031-11C01FBB3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1A075-608F-D7CE-5E0D-D52ECA86D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563370"/>
            <a:ext cx="8023859" cy="1846659"/>
          </a:xfrm>
        </p:spPr>
        <p:txBody>
          <a:bodyPr/>
          <a:lstStyle/>
          <a:p>
            <a:r>
              <a:rPr lang="en-US" dirty="0"/>
              <a:t>int parent[7] = {-1, 0, 0, 0, 1, 1, 2};</a:t>
            </a:r>
          </a:p>
          <a:p>
            <a:r>
              <a:rPr lang="en-US" dirty="0"/>
              <a:t>//               A   B  C  D  E  F  G</a:t>
            </a:r>
          </a:p>
          <a:p>
            <a:r>
              <a:rPr lang="en-US" dirty="0"/>
              <a:t>// -1 means no parent (root)</a:t>
            </a:r>
          </a:p>
          <a:p>
            <a:r>
              <a:rPr lang="en-US" dirty="0"/>
              <a:t>// parent[1] = 0 means B's parent is 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8120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D5DCC-33C3-C9E2-021E-66A00F5AB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B64FA1-2D6F-A776-3947-7B0FFBF6B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91465"/>
            <a:ext cx="8023859" cy="6924973"/>
          </a:xfrm>
        </p:spPr>
        <p:txBody>
          <a:bodyPr/>
          <a:lstStyle/>
          <a:p>
            <a:r>
              <a:rPr lang="en-IN" dirty="0"/>
              <a:t>#include &lt;map&gt;</a:t>
            </a:r>
          </a:p>
          <a:p>
            <a:r>
              <a:rPr lang="en-IN" dirty="0"/>
              <a:t>#include &lt;vector&gt;</a:t>
            </a:r>
          </a:p>
          <a:p>
            <a:r>
              <a:rPr lang="en-IN" dirty="0"/>
              <a:t>using namespace std;</a:t>
            </a:r>
          </a:p>
          <a:p>
            <a:endParaRPr lang="en-IN" dirty="0"/>
          </a:p>
          <a:p>
            <a:r>
              <a:rPr lang="en-IN" dirty="0"/>
              <a:t>map&lt;int, vector&lt;int&gt;&gt; tree;</a:t>
            </a:r>
          </a:p>
          <a:p>
            <a:endParaRPr lang="en-IN" dirty="0"/>
          </a:p>
          <a:p>
            <a:r>
              <a:rPr lang="en-IN" dirty="0"/>
              <a:t>void </a:t>
            </a:r>
            <a:r>
              <a:rPr lang="en-IN" dirty="0" err="1"/>
              <a:t>addEdge</a:t>
            </a:r>
            <a:r>
              <a:rPr lang="en-IN" dirty="0"/>
              <a:t>(int parent, int child) {</a:t>
            </a:r>
          </a:p>
          <a:p>
            <a:r>
              <a:rPr lang="en-IN" dirty="0"/>
              <a:t>    tree[parent].</a:t>
            </a:r>
            <a:r>
              <a:rPr lang="en-IN" dirty="0" err="1"/>
              <a:t>push_back</a:t>
            </a:r>
            <a:r>
              <a:rPr lang="en-IN" dirty="0"/>
              <a:t>(child);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int main() {</a:t>
            </a:r>
          </a:p>
          <a:p>
            <a:r>
              <a:rPr lang="en-IN" dirty="0"/>
              <a:t>    </a:t>
            </a:r>
            <a:r>
              <a:rPr lang="en-IN" dirty="0" err="1"/>
              <a:t>addEdge</a:t>
            </a:r>
            <a:r>
              <a:rPr lang="en-IN" dirty="0"/>
              <a:t>(1, 2);</a:t>
            </a:r>
          </a:p>
          <a:p>
            <a:r>
              <a:rPr lang="en-IN" dirty="0"/>
              <a:t>    </a:t>
            </a:r>
            <a:r>
              <a:rPr lang="en-IN" dirty="0" err="1"/>
              <a:t>addEdge</a:t>
            </a:r>
            <a:r>
              <a:rPr lang="en-IN" dirty="0"/>
              <a:t>(1, 3);</a:t>
            </a:r>
          </a:p>
          <a:p>
            <a:r>
              <a:rPr lang="en-IN" dirty="0"/>
              <a:t>    </a:t>
            </a:r>
            <a:r>
              <a:rPr lang="en-IN" dirty="0" err="1"/>
              <a:t>addEdge</a:t>
            </a:r>
            <a:r>
              <a:rPr lang="en-IN" dirty="0"/>
              <a:t>(2, 4);</a:t>
            </a:r>
          </a:p>
          <a:p>
            <a:r>
              <a:rPr lang="en-IN" dirty="0"/>
              <a:t>    </a:t>
            </a:r>
            <a:r>
              <a:rPr lang="en-IN" dirty="0" err="1"/>
              <a:t>addEdge</a:t>
            </a:r>
            <a:r>
              <a:rPr lang="en-IN" dirty="0"/>
              <a:t>(2, 5);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95338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28950" y="461594"/>
            <a:ext cx="30880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Calibri"/>
                <a:cs typeface="Calibri"/>
              </a:rPr>
              <a:t>Types</a:t>
            </a:r>
            <a:r>
              <a:rPr b="1" spc="-1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85" dirty="0">
                <a:latin typeface="Calibri"/>
                <a:cs typeface="Calibri"/>
              </a:rPr>
              <a:t> </a:t>
            </a:r>
            <a:r>
              <a:rPr b="1" spc="-45" dirty="0">
                <a:latin typeface="Calibri"/>
                <a:cs typeface="Calibri"/>
              </a:rPr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0635"/>
            <a:ext cx="3422015" cy="353758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General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Tree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Binary</a:t>
            </a:r>
            <a:r>
              <a:rPr sz="3200" spc="-20" dirty="0">
                <a:latin typeface="Calibri"/>
                <a:cs typeface="Calibri"/>
              </a:rPr>
              <a:t> Tree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Binary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Search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Tree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AVL</a:t>
            </a:r>
            <a:r>
              <a:rPr sz="3200" spc="-17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Tree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25" dirty="0">
                <a:latin typeface="Calibri"/>
                <a:cs typeface="Calibri"/>
              </a:rPr>
              <a:t>Red-</a:t>
            </a:r>
            <a:r>
              <a:rPr sz="3200" dirty="0">
                <a:latin typeface="Calibri"/>
                <a:cs typeface="Calibri"/>
              </a:rPr>
              <a:t>Black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Tree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N-</a:t>
            </a:r>
            <a:r>
              <a:rPr sz="3200" dirty="0">
                <a:latin typeface="Calibri"/>
                <a:cs typeface="Calibri"/>
              </a:rPr>
              <a:t>ary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Tree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83458" y="461594"/>
            <a:ext cx="25793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Binary </a:t>
            </a:r>
            <a:r>
              <a:rPr spc="-7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0613"/>
            <a:ext cx="8014970" cy="1818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65125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Binary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structure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which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most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children.</a:t>
            </a:r>
            <a:endParaRPr sz="28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Thus,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binary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tree,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either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child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or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child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children.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825" y="3829050"/>
            <a:ext cx="600075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59304" y="461594"/>
            <a:ext cx="50266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Unlabeled</a:t>
            </a:r>
            <a:r>
              <a:rPr spc="-25" dirty="0"/>
              <a:t> </a:t>
            </a:r>
            <a:r>
              <a:rPr dirty="0"/>
              <a:t>Binary</a:t>
            </a:r>
            <a:r>
              <a:rPr spc="-20" dirty="0"/>
              <a:t> </a:t>
            </a:r>
            <a:r>
              <a:rPr spc="-6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775144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binary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tree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unlabeled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if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nodes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not </a:t>
            </a:r>
            <a:r>
              <a:rPr sz="3200" dirty="0">
                <a:latin typeface="Calibri"/>
                <a:cs typeface="Calibri"/>
              </a:rPr>
              <a:t>assigned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any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label.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3498" y="3033712"/>
            <a:ext cx="5162550" cy="301942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98958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40" y="1540506"/>
            <a:ext cx="7357745" cy="22205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80365" algn="l"/>
              </a:tabLst>
            </a:pPr>
            <a:r>
              <a:rPr sz="2400" dirty="0">
                <a:latin typeface="Calibri"/>
                <a:cs typeface="Calibri"/>
              </a:rPr>
              <a:t>Consider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draw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binary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possible</a:t>
            </a:r>
            <a:endParaRPr sz="2400">
              <a:latin typeface="Calibri"/>
              <a:cs typeface="Calibri"/>
            </a:endParaRPr>
          </a:p>
          <a:p>
            <a:pPr marL="380365" indent="-3422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80365" algn="l"/>
              </a:tabLst>
            </a:pP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binary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possible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unlabeled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nodes</a:t>
            </a:r>
            <a:endParaRPr sz="24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575"/>
              </a:spcBef>
              <a:tabLst>
                <a:tab pos="380365" algn="l"/>
              </a:tabLst>
            </a:pPr>
            <a:r>
              <a:rPr sz="2400" spc="-50" dirty="0">
                <a:latin typeface="Arial"/>
                <a:cs typeface="Arial"/>
              </a:rPr>
              <a:t>•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aseline="24305" dirty="0">
                <a:latin typeface="Calibri"/>
                <a:cs typeface="Calibri"/>
              </a:rPr>
              <a:t>2</a:t>
            </a:r>
            <a:r>
              <a:rPr sz="2400" spc="-7" baseline="24305" dirty="0">
                <a:latin typeface="Calibri"/>
                <a:cs typeface="Calibri"/>
              </a:rPr>
              <a:t> </a:t>
            </a:r>
            <a:r>
              <a:rPr sz="2400" baseline="24305" dirty="0">
                <a:latin typeface="Calibri"/>
                <a:cs typeface="Calibri"/>
              </a:rPr>
              <a:t>x</a:t>
            </a:r>
            <a:r>
              <a:rPr sz="2400" spc="-30" baseline="24305" dirty="0">
                <a:latin typeface="Calibri"/>
                <a:cs typeface="Calibri"/>
              </a:rPr>
              <a:t> </a:t>
            </a:r>
            <a:r>
              <a:rPr sz="2400" baseline="24305" dirty="0">
                <a:latin typeface="Calibri"/>
                <a:cs typeface="Calibri"/>
              </a:rPr>
              <a:t>3</a:t>
            </a:r>
            <a:r>
              <a:rPr sz="2400" dirty="0">
                <a:latin typeface="Calibri"/>
                <a:cs typeface="Calibri"/>
              </a:rPr>
              <a:t>C</a:t>
            </a:r>
            <a:r>
              <a:rPr sz="2400" baseline="-20833" dirty="0">
                <a:latin typeface="Calibri"/>
                <a:cs typeface="Calibri"/>
              </a:rPr>
              <a:t>3</a:t>
            </a:r>
            <a:r>
              <a:rPr sz="2400" spc="254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/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(3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1)</a:t>
            </a:r>
            <a:endParaRPr sz="24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575"/>
              </a:spcBef>
              <a:tabLst>
                <a:tab pos="380365" algn="l"/>
              </a:tabLst>
            </a:pPr>
            <a:r>
              <a:rPr sz="2400" spc="-50" dirty="0">
                <a:latin typeface="Arial"/>
                <a:cs typeface="Arial"/>
              </a:rPr>
              <a:t>•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aseline="24305" dirty="0">
                <a:latin typeface="Calibri"/>
                <a:cs typeface="Calibri"/>
              </a:rPr>
              <a:t>6</a:t>
            </a:r>
            <a:r>
              <a:rPr sz="2400" dirty="0">
                <a:latin typeface="Calibri"/>
                <a:cs typeface="Calibri"/>
              </a:rPr>
              <a:t>C</a:t>
            </a:r>
            <a:r>
              <a:rPr sz="2400" baseline="-20833" dirty="0">
                <a:latin typeface="Calibri"/>
                <a:cs typeface="Calibri"/>
              </a:rPr>
              <a:t>3</a:t>
            </a:r>
            <a:r>
              <a:rPr sz="2400" spc="240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/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575"/>
              </a:spcBef>
              <a:tabLst>
                <a:tab pos="380365" algn="l"/>
              </a:tabLst>
            </a:pPr>
            <a:r>
              <a:rPr sz="2400" spc="-50" dirty="0">
                <a:latin typeface="Arial"/>
                <a:cs typeface="Arial"/>
              </a:rPr>
              <a:t>•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5" y="4319587"/>
            <a:ext cx="6257925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32101" y="461594"/>
            <a:ext cx="44811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Labeled</a:t>
            </a:r>
            <a:r>
              <a:rPr spc="-30" dirty="0"/>
              <a:t> </a:t>
            </a:r>
            <a:r>
              <a:rPr dirty="0"/>
              <a:t>Binary</a:t>
            </a:r>
            <a:r>
              <a:rPr spc="-15" dirty="0"/>
              <a:t> </a:t>
            </a:r>
            <a:r>
              <a:rPr spc="-6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723773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binary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tree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labelled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if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nodes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are </a:t>
            </a:r>
            <a:r>
              <a:rPr sz="3200" dirty="0">
                <a:latin typeface="Calibri"/>
                <a:cs typeface="Calibri"/>
              </a:rPr>
              <a:t>assigned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label.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50" y="3028950"/>
            <a:ext cx="544830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98958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840" y="1616709"/>
            <a:ext cx="7565390" cy="2465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marR="558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93700" algn="l"/>
              </a:tabLst>
            </a:pPr>
            <a:r>
              <a:rPr sz="2000" dirty="0">
                <a:latin typeface="Calibri"/>
                <a:cs typeface="Calibri"/>
              </a:rPr>
              <a:t>Consider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draw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binary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possible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labeled nodes.</a:t>
            </a:r>
            <a:endParaRPr sz="2000">
              <a:latin typeface="Calibri"/>
              <a:cs typeface="Calibri"/>
            </a:endParaRPr>
          </a:p>
          <a:p>
            <a:pPr marL="393065" indent="-34226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93065" algn="l"/>
              </a:tabLst>
            </a:pP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binary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possible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labeled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nodes</a:t>
            </a:r>
            <a:endParaRPr sz="20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480"/>
              </a:spcBef>
              <a:tabLst>
                <a:tab pos="393065" algn="l"/>
              </a:tabLst>
            </a:pPr>
            <a:r>
              <a:rPr sz="2000" spc="-50" dirty="0">
                <a:latin typeface="Arial"/>
                <a:cs typeface="Arial"/>
              </a:rPr>
              <a:t>•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{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1950" baseline="25641" dirty="0">
                <a:latin typeface="Calibri"/>
                <a:cs typeface="Calibri"/>
              </a:rPr>
              <a:t>2</a:t>
            </a:r>
            <a:r>
              <a:rPr sz="1950" spc="7" baseline="25641" dirty="0">
                <a:latin typeface="Calibri"/>
                <a:cs typeface="Calibri"/>
              </a:rPr>
              <a:t> </a:t>
            </a:r>
            <a:r>
              <a:rPr sz="1950" baseline="25641" dirty="0">
                <a:latin typeface="Calibri"/>
                <a:cs typeface="Calibri"/>
              </a:rPr>
              <a:t>x</a:t>
            </a:r>
            <a:r>
              <a:rPr sz="1950" spc="7" baseline="25641" dirty="0">
                <a:latin typeface="Calibri"/>
                <a:cs typeface="Calibri"/>
              </a:rPr>
              <a:t> </a:t>
            </a:r>
            <a:r>
              <a:rPr sz="1950" baseline="25641" dirty="0">
                <a:latin typeface="Calibri"/>
                <a:cs typeface="Calibri"/>
              </a:rPr>
              <a:t>3</a:t>
            </a:r>
            <a:r>
              <a:rPr sz="2000" dirty="0">
                <a:latin typeface="Calibri"/>
                <a:cs typeface="Calibri"/>
              </a:rPr>
              <a:t>C</a:t>
            </a:r>
            <a:r>
              <a:rPr sz="1950" baseline="-21367" dirty="0">
                <a:latin typeface="Calibri"/>
                <a:cs typeface="Calibri"/>
              </a:rPr>
              <a:t>3</a:t>
            </a:r>
            <a:r>
              <a:rPr sz="1950" spc="217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(3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1)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}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x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3!</a:t>
            </a:r>
            <a:endParaRPr sz="20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480"/>
              </a:spcBef>
              <a:tabLst>
                <a:tab pos="393065" algn="l"/>
              </a:tabLst>
            </a:pPr>
            <a:r>
              <a:rPr sz="2000" spc="-50" dirty="0">
                <a:latin typeface="Arial"/>
                <a:cs typeface="Arial"/>
              </a:rPr>
              <a:t>•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{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1950" baseline="25641" dirty="0">
                <a:latin typeface="Calibri"/>
                <a:cs typeface="Calibri"/>
              </a:rPr>
              <a:t>6</a:t>
            </a:r>
            <a:r>
              <a:rPr sz="2000" dirty="0">
                <a:latin typeface="Calibri"/>
                <a:cs typeface="Calibri"/>
              </a:rPr>
              <a:t>C</a:t>
            </a:r>
            <a:r>
              <a:rPr sz="1950" baseline="-21367" dirty="0">
                <a:latin typeface="Calibri"/>
                <a:cs typeface="Calibri"/>
              </a:rPr>
              <a:t>3</a:t>
            </a:r>
            <a:r>
              <a:rPr sz="1950" spc="240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4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}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x </a:t>
            </a:r>
            <a:r>
              <a:rPr sz="2000" spc="-50" dirty="0">
                <a:latin typeface="Calibri"/>
                <a:cs typeface="Calibri"/>
              </a:rPr>
              <a:t>6</a:t>
            </a:r>
            <a:endParaRPr sz="20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480"/>
              </a:spcBef>
              <a:tabLst>
                <a:tab pos="393065" algn="l"/>
              </a:tabLst>
            </a:pPr>
            <a:r>
              <a:rPr sz="2000" spc="-50" dirty="0">
                <a:latin typeface="Arial"/>
                <a:cs typeface="Arial"/>
              </a:rPr>
              <a:t>•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x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6</a:t>
            </a:r>
            <a:endParaRPr sz="20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484"/>
              </a:spcBef>
              <a:tabLst>
                <a:tab pos="393065" algn="l"/>
              </a:tabLst>
            </a:pPr>
            <a:r>
              <a:rPr sz="2000" spc="-50" dirty="0">
                <a:latin typeface="Arial"/>
                <a:cs typeface="Arial"/>
              </a:rPr>
              <a:t>•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30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5123" y="3249575"/>
            <a:ext cx="3727918" cy="352882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67508" y="461594"/>
            <a:ext cx="48082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Types</a:t>
            </a:r>
            <a:r>
              <a:rPr spc="-8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dirty="0"/>
              <a:t>Binary</a:t>
            </a:r>
            <a:r>
              <a:rPr spc="-90" dirty="0"/>
              <a:t> </a:t>
            </a:r>
            <a:r>
              <a:rPr spc="-50" dirty="0"/>
              <a:t>Trees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3924" y="2466975"/>
            <a:ext cx="6257925" cy="29527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02204" y="461594"/>
            <a:ext cx="43414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Rooted</a:t>
            </a:r>
            <a:r>
              <a:rPr spc="-114" dirty="0"/>
              <a:t> </a:t>
            </a:r>
            <a:r>
              <a:rPr dirty="0"/>
              <a:t>Binary</a:t>
            </a:r>
            <a:r>
              <a:rPr spc="-95" dirty="0"/>
              <a:t> </a:t>
            </a:r>
            <a:r>
              <a:rPr spc="-55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7084059" cy="20281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rooted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binary</a:t>
            </a:r>
            <a:r>
              <a:rPr sz="3200" b="1" spc="-7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tree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binary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tree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that </a:t>
            </a:r>
            <a:r>
              <a:rPr sz="3200" dirty="0">
                <a:latin typeface="Calibri"/>
                <a:cs typeface="Calibri"/>
              </a:rPr>
              <a:t>satisfies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following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2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properties:</a:t>
            </a:r>
            <a:endParaRPr sz="32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root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node.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Each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most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children.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8865" y="4084791"/>
            <a:ext cx="3413198" cy="27021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20620" y="461594"/>
            <a:ext cx="53060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Full/Strictly</a:t>
            </a:r>
            <a:r>
              <a:rPr spc="10" dirty="0"/>
              <a:t> </a:t>
            </a:r>
            <a:r>
              <a:rPr dirty="0"/>
              <a:t>Binary</a:t>
            </a:r>
            <a:r>
              <a:rPr spc="-15" dirty="0"/>
              <a:t> </a:t>
            </a:r>
            <a:r>
              <a:rPr spc="-65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0613"/>
            <a:ext cx="7730490" cy="1391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7874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binary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every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either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2 </a:t>
            </a:r>
            <a:r>
              <a:rPr sz="2800" dirty="0">
                <a:latin typeface="Calibri"/>
                <a:cs typeface="Calibri"/>
              </a:rPr>
              <a:t>children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Full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binary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tree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Full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binary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Strictly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binary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tree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6931" y="3488641"/>
            <a:ext cx="5610137" cy="298860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44930" y="461594"/>
            <a:ext cx="68599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Complete</a:t>
            </a:r>
            <a:r>
              <a:rPr spc="-125" dirty="0"/>
              <a:t> </a:t>
            </a:r>
            <a:r>
              <a:rPr dirty="0"/>
              <a:t>/Perfect</a:t>
            </a:r>
            <a:r>
              <a:rPr spc="-110" dirty="0"/>
              <a:t> </a:t>
            </a:r>
            <a:r>
              <a:rPr dirty="0"/>
              <a:t>Binary</a:t>
            </a:r>
            <a:r>
              <a:rPr spc="-110" dirty="0"/>
              <a:t> </a:t>
            </a:r>
            <a:r>
              <a:rPr spc="-4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0613"/>
            <a:ext cx="7860665" cy="1760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complete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binary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tree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binary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satisfies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following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properties: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05"/>
              </a:spcBef>
              <a:buFont typeface="Arial"/>
              <a:buChar char="–"/>
              <a:tabLst>
                <a:tab pos="755650" algn="l"/>
              </a:tabLst>
            </a:pPr>
            <a:r>
              <a:rPr sz="2400" spc="-10" dirty="0">
                <a:latin typeface="Calibri"/>
                <a:cs typeface="Calibri"/>
              </a:rPr>
              <a:t>Every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exactly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children.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All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750" y="4010025"/>
            <a:ext cx="632460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60728" y="461594"/>
            <a:ext cx="66255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Almost</a:t>
            </a:r>
            <a:r>
              <a:rPr spc="-55" dirty="0"/>
              <a:t> </a:t>
            </a:r>
            <a:r>
              <a:rPr dirty="0"/>
              <a:t>Complete</a:t>
            </a:r>
            <a:r>
              <a:rPr spc="-45" dirty="0"/>
              <a:t> </a:t>
            </a:r>
            <a:r>
              <a:rPr dirty="0"/>
              <a:t>Binary</a:t>
            </a:r>
            <a:r>
              <a:rPr spc="-65" dirty="0"/>
              <a:t> </a:t>
            </a:r>
            <a:r>
              <a:rPr spc="-5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3661"/>
            <a:ext cx="7874000" cy="1492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almost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complete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binary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tree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binary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satisfies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properties-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9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All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levels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completely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filled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except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possibly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level.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level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strictly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filled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left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right.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1175" y="3567112"/>
            <a:ext cx="5734050" cy="26860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51913" y="461594"/>
            <a:ext cx="44443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Skewed</a:t>
            </a:r>
            <a:r>
              <a:rPr spc="-100" dirty="0"/>
              <a:t> </a:t>
            </a:r>
            <a:r>
              <a:rPr dirty="0"/>
              <a:t>Binary</a:t>
            </a:r>
            <a:r>
              <a:rPr spc="-100" dirty="0"/>
              <a:t> </a:t>
            </a:r>
            <a:r>
              <a:rPr spc="-5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3370"/>
            <a:ext cx="7534275" cy="167195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skewed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binary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tree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binary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tree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satisfies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following</a:t>
            </a:r>
            <a:r>
              <a:rPr sz="1800" dirty="0">
                <a:latin typeface="Calibri"/>
                <a:cs typeface="Calibri"/>
              </a:rPr>
              <a:t> 2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properties-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All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except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child.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remaining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child.</a:t>
            </a:r>
            <a:endParaRPr sz="1800">
              <a:latin typeface="Calibri"/>
              <a:cs typeface="Calibri"/>
            </a:endParaRPr>
          </a:p>
          <a:p>
            <a:pPr marL="90170" algn="ctr">
              <a:lnSpc>
                <a:spcPct val="100000"/>
              </a:lnSpc>
              <a:spcBef>
                <a:spcPts val="434"/>
              </a:spcBef>
            </a:pPr>
            <a:r>
              <a:rPr sz="1800" b="1" spc="-25" dirty="0">
                <a:latin typeface="Calibri"/>
                <a:cs typeface="Calibri"/>
              </a:rPr>
              <a:t>OR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skewed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binary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tree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binary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tree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such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depth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(n-</a:t>
            </a:r>
            <a:r>
              <a:rPr sz="1800" spc="-25" dirty="0">
                <a:latin typeface="Calibri"/>
                <a:cs typeface="Calibri"/>
              </a:rPr>
              <a:t>1).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3857625"/>
            <a:ext cx="4991100" cy="261937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97455">
              <a:lnSpc>
                <a:spcPct val="100000"/>
              </a:lnSpc>
              <a:spcBef>
                <a:spcPts val="95"/>
              </a:spcBef>
            </a:pPr>
            <a:r>
              <a:rPr sz="4000" b="1" spc="-25" dirty="0">
                <a:latin typeface="Calibri"/>
                <a:cs typeface="Calibri"/>
              </a:rPr>
              <a:t>Tree</a:t>
            </a:r>
            <a:r>
              <a:rPr sz="4000" b="1" spc="-190" dirty="0">
                <a:latin typeface="Calibri"/>
                <a:cs typeface="Calibri"/>
              </a:rPr>
              <a:t> </a:t>
            </a:r>
            <a:r>
              <a:rPr sz="4000" b="1" spc="-50" dirty="0">
                <a:latin typeface="Calibri"/>
                <a:cs typeface="Calibri"/>
              </a:rPr>
              <a:t>Traversal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7781925" cy="3538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5494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order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perform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any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operation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tree, </a:t>
            </a:r>
            <a:r>
              <a:rPr sz="3200" dirty="0">
                <a:latin typeface="Calibri"/>
                <a:cs typeface="Calibri"/>
              </a:rPr>
              <a:t>you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need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reach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specific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node.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tree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traversal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algorithm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helps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visiting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a </a:t>
            </a:r>
            <a:r>
              <a:rPr sz="3200" dirty="0">
                <a:latin typeface="Calibri"/>
                <a:cs typeface="Calibri"/>
              </a:rPr>
              <a:t>required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node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tree.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spc="-40" dirty="0">
                <a:latin typeface="Calibri"/>
                <a:cs typeface="Calibri"/>
              </a:rPr>
              <a:t>Tree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Traversal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refers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process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visiting </a:t>
            </a:r>
            <a:r>
              <a:rPr sz="3200" dirty="0">
                <a:latin typeface="Calibri"/>
                <a:cs typeface="Calibri"/>
              </a:rPr>
              <a:t>each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node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tree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structure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exactly once.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104265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Tree</a:t>
            </a:r>
            <a:r>
              <a:rPr spc="-180" dirty="0"/>
              <a:t> </a:t>
            </a:r>
            <a:r>
              <a:rPr spc="-20" dirty="0"/>
              <a:t>traversal</a:t>
            </a:r>
            <a:r>
              <a:rPr spc="-180" dirty="0"/>
              <a:t> </a:t>
            </a:r>
            <a:r>
              <a:rPr spc="-10" dirty="0"/>
              <a:t>techniques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17871" y="1979676"/>
            <a:ext cx="2865755" cy="795655"/>
            <a:chOff x="2817871" y="1979676"/>
            <a:chExt cx="2865755" cy="7956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7871" y="1979676"/>
              <a:ext cx="2865129" cy="7955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7500" y="2000250"/>
              <a:ext cx="2786126" cy="7143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857500" y="2000250"/>
              <a:ext cx="2786380" cy="714375"/>
            </a:xfrm>
            <a:custGeom>
              <a:avLst/>
              <a:gdLst/>
              <a:ahLst/>
              <a:cxnLst/>
              <a:rect l="l" t="t" r="r" b="b"/>
              <a:pathLst>
                <a:path w="2786379" h="714375">
                  <a:moveTo>
                    <a:pt x="0" y="118999"/>
                  </a:moveTo>
                  <a:lnTo>
                    <a:pt x="9360" y="72705"/>
                  </a:lnTo>
                  <a:lnTo>
                    <a:pt x="34877" y="34877"/>
                  </a:lnTo>
                  <a:lnTo>
                    <a:pt x="72705" y="9360"/>
                  </a:lnTo>
                  <a:lnTo>
                    <a:pt x="118999" y="0"/>
                  </a:lnTo>
                  <a:lnTo>
                    <a:pt x="2667000" y="0"/>
                  </a:lnTo>
                  <a:lnTo>
                    <a:pt x="2713366" y="9360"/>
                  </a:lnTo>
                  <a:lnTo>
                    <a:pt x="2751232" y="34877"/>
                  </a:lnTo>
                  <a:lnTo>
                    <a:pt x="2776763" y="72705"/>
                  </a:lnTo>
                  <a:lnTo>
                    <a:pt x="2786126" y="118999"/>
                  </a:lnTo>
                  <a:lnTo>
                    <a:pt x="2786126" y="595249"/>
                  </a:lnTo>
                  <a:lnTo>
                    <a:pt x="2776763" y="641615"/>
                  </a:lnTo>
                  <a:lnTo>
                    <a:pt x="2751232" y="679481"/>
                  </a:lnTo>
                  <a:lnTo>
                    <a:pt x="2713366" y="705012"/>
                  </a:lnTo>
                  <a:lnTo>
                    <a:pt x="2667000" y="714375"/>
                  </a:lnTo>
                  <a:lnTo>
                    <a:pt x="118999" y="714375"/>
                  </a:lnTo>
                  <a:lnTo>
                    <a:pt x="72705" y="705012"/>
                  </a:lnTo>
                  <a:lnTo>
                    <a:pt x="34877" y="679481"/>
                  </a:lnTo>
                  <a:lnTo>
                    <a:pt x="9360" y="641615"/>
                  </a:lnTo>
                  <a:lnTo>
                    <a:pt x="0" y="595249"/>
                  </a:lnTo>
                  <a:lnTo>
                    <a:pt x="0" y="118999"/>
                  </a:lnTo>
                  <a:close/>
                </a:path>
              </a:pathLst>
            </a:custGeom>
            <a:ln w="12700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601592" y="2192782"/>
            <a:ext cx="1300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Tree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Traversal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60119" y="3052554"/>
            <a:ext cx="2867025" cy="794385"/>
            <a:chOff x="960119" y="3052554"/>
            <a:chExt cx="2867025" cy="79438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0119" y="3052554"/>
              <a:ext cx="2866643" cy="79403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0099" y="3071749"/>
              <a:ext cx="2786024" cy="71450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00099" y="3071749"/>
              <a:ext cx="2786380" cy="715010"/>
            </a:xfrm>
            <a:custGeom>
              <a:avLst/>
              <a:gdLst/>
              <a:ahLst/>
              <a:cxnLst/>
              <a:rect l="l" t="t" r="r" b="b"/>
              <a:pathLst>
                <a:path w="2786379" h="715010">
                  <a:moveTo>
                    <a:pt x="0" y="119125"/>
                  </a:moveTo>
                  <a:lnTo>
                    <a:pt x="9355" y="72759"/>
                  </a:lnTo>
                  <a:lnTo>
                    <a:pt x="34871" y="34893"/>
                  </a:lnTo>
                  <a:lnTo>
                    <a:pt x="72716" y="9362"/>
                  </a:lnTo>
                  <a:lnTo>
                    <a:pt x="119062" y="0"/>
                  </a:lnTo>
                  <a:lnTo>
                    <a:pt x="2667025" y="0"/>
                  </a:lnTo>
                  <a:lnTo>
                    <a:pt x="2713372" y="9362"/>
                  </a:lnTo>
                  <a:lnTo>
                    <a:pt x="2751194" y="34893"/>
                  </a:lnTo>
                  <a:lnTo>
                    <a:pt x="2776681" y="72759"/>
                  </a:lnTo>
                  <a:lnTo>
                    <a:pt x="2786024" y="119125"/>
                  </a:lnTo>
                  <a:lnTo>
                    <a:pt x="2786024" y="595376"/>
                  </a:lnTo>
                  <a:lnTo>
                    <a:pt x="2776681" y="641742"/>
                  </a:lnTo>
                  <a:lnTo>
                    <a:pt x="2751194" y="679608"/>
                  </a:lnTo>
                  <a:lnTo>
                    <a:pt x="2713372" y="705139"/>
                  </a:lnTo>
                  <a:lnTo>
                    <a:pt x="2667025" y="714501"/>
                  </a:lnTo>
                  <a:lnTo>
                    <a:pt x="119062" y="714501"/>
                  </a:lnTo>
                  <a:lnTo>
                    <a:pt x="72716" y="705139"/>
                  </a:lnTo>
                  <a:lnTo>
                    <a:pt x="34871" y="679608"/>
                  </a:lnTo>
                  <a:lnTo>
                    <a:pt x="9355" y="641742"/>
                  </a:lnTo>
                  <a:lnTo>
                    <a:pt x="0" y="595376"/>
                  </a:lnTo>
                  <a:lnTo>
                    <a:pt x="0" y="119125"/>
                  </a:lnTo>
                  <a:close/>
                </a:path>
              </a:pathLst>
            </a:custGeom>
            <a:ln w="12700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434464" y="3264534"/>
            <a:ext cx="19170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Depth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Traversal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03871" y="3052554"/>
            <a:ext cx="2865755" cy="794385"/>
            <a:chOff x="5103871" y="3052554"/>
            <a:chExt cx="2865755" cy="79438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03871" y="3052554"/>
              <a:ext cx="2865129" cy="79403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43499" y="3071749"/>
              <a:ext cx="2786126" cy="71450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143499" y="3071749"/>
              <a:ext cx="2786380" cy="715010"/>
            </a:xfrm>
            <a:custGeom>
              <a:avLst/>
              <a:gdLst/>
              <a:ahLst/>
              <a:cxnLst/>
              <a:rect l="l" t="t" r="r" b="b"/>
              <a:pathLst>
                <a:path w="2786379" h="715010">
                  <a:moveTo>
                    <a:pt x="0" y="119125"/>
                  </a:moveTo>
                  <a:lnTo>
                    <a:pt x="9362" y="72759"/>
                  </a:lnTo>
                  <a:lnTo>
                    <a:pt x="34893" y="34893"/>
                  </a:lnTo>
                  <a:lnTo>
                    <a:pt x="72759" y="9362"/>
                  </a:lnTo>
                  <a:lnTo>
                    <a:pt x="119125" y="0"/>
                  </a:lnTo>
                  <a:lnTo>
                    <a:pt x="2667000" y="0"/>
                  </a:lnTo>
                  <a:lnTo>
                    <a:pt x="2713366" y="9362"/>
                  </a:lnTo>
                  <a:lnTo>
                    <a:pt x="2751232" y="34893"/>
                  </a:lnTo>
                  <a:lnTo>
                    <a:pt x="2776763" y="72759"/>
                  </a:lnTo>
                  <a:lnTo>
                    <a:pt x="2786126" y="119125"/>
                  </a:lnTo>
                  <a:lnTo>
                    <a:pt x="2786126" y="595376"/>
                  </a:lnTo>
                  <a:lnTo>
                    <a:pt x="2776763" y="641742"/>
                  </a:lnTo>
                  <a:lnTo>
                    <a:pt x="2751232" y="679608"/>
                  </a:lnTo>
                  <a:lnTo>
                    <a:pt x="2713366" y="705139"/>
                  </a:lnTo>
                  <a:lnTo>
                    <a:pt x="2667000" y="714501"/>
                  </a:lnTo>
                  <a:lnTo>
                    <a:pt x="119125" y="714501"/>
                  </a:lnTo>
                  <a:lnTo>
                    <a:pt x="72759" y="705139"/>
                  </a:lnTo>
                  <a:lnTo>
                    <a:pt x="34893" y="679608"/>
                  </a:lnTo>
                  <a:lnTo>
                    <a:pt x="9362" y="641742"/>
                  </a:lnTo>
                  <a:lnTo>
                    <a:pt x="0" y="595376"/>
                  </a:lnTo>
                  <a:lnTo>
                    <a:pt x="0" y="119125"/>
                  </a:lnTo>
                  <a:close/>
                </a:path>
              </a:pathLst>
            </a:custGeom>
            <a:ln w="12700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493258" y="3264534"/>
            <a:ext cx="2087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Breadth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Traversal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42998" y="4143375"/>
            <a:ext cx="2500630" cy="357505"/>
          </a:xfrm>
          <a:custGeom>
            <a:avLst/>
            <a:gdLst/>
            <a:ahLst/>
            <a:cxnLst/>
            <a:rect l="l" t="t" r="r" b="b"/>
            <a:pathLst>
              <a:path w="2500629" h="357504">
                <a:moveTo>
                  <a:pt x="0" y="59562"/>
                </a:moveTo>
                <a:lnTo>
                  <a:pt x="4681" y="36379"/>
                </a:lnTo>
                <a:lnTo>
                  <a:pt x="17446" y="17446"/>
                </a:lnTo>
                <a:lnTo>
                  <a:pt x="36379" y="4681"/>
                </a:lnTo>
                <a:lnTo>
                  <a:pt x="59562" y="0"/>
                </a:lnTo>
                <a:lnTo>
                  <a:pt x="2440813" y="0"/>
                </a:lnTo>
                <a:lnTo>
                  <a:pt x="2463996" y="4681"/>
                </a:lnTo>
                <a:lnTo>
                  <a:pt x="2482929" y="17446"/>
                </a:lnTo>
                <a:lnTo>
                  <a:pt x="2495694" y="36379"/>
                </a:lnTo>
                <a:lnTo>
                  <a:pt x="2500376" y="59562"/>
                </a:lnTo>
                <a:lnTo>
                  <a:pt x="2500376" y="297688"/>
                </a:lnTo>
                <a:lnTo>
                  <a:pt x="2495694" y="320871"/>
                </a:lnTo>
                <a:lnTo>
                  <a:pt x="2482929" y="339804"/>
                </a:lnTo>
                <a:lnTo>
                  <a:pt x="2463996" y="352569"/>
                </a:lnTo>
                <a:lnTo>
                  <a:pt x="2440813" y="357250"/>
                </a:lnTo>
                <a:lnTo>
                  <a:pt x="59562" y="357250"/>
                </a:lnTo>
                <a:lnTo>
                  <a:pt x="36379" y="352569"/>
                </a:lnTo>
                <a:lnTo>
                  <a:pt x="17446" y="339804"/>
                </a:lnTo>
                <a:lnTo>
                  <a:pt x="4681" y="320871"/>
                </a:lnTo>
                <a:lnTo>
                  <a:pt x="0" y="297688"/>
                </a:lnTo>
                <a:lnTo>
                  <a:pt x="0" y="59562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42998" y="4786376"/>
            <a:ext cx="2500630" cy="357505"/>
          </a:xfrm>
          <a:custGeom>
            <a:avLst/>
            <a:gdLst/>
            <a:ahLst/>
            <a:cxnLst/>
            <a:rect l="l" t="t" r="r" b="b"/>
            <a:pathLst>
              <a:path w="2500629" h="357504">
                <a:moveTo>
                  <a:pt x="0" y="59436"/>
                </a:moveTo>
                <a:lnTo>
                  <a:pt x="4681" y="36272"/>
                </a:lnTo>
                <a:lnTo>
                  <a:pt x="17446" y="17383"/>
                </a:lnTo>
                <a:lnTo>
                  <a:pt x="36379" y="4661"/>
                </a:lnTo>
                <a:lnTo>
                  <a:pt x="59562" y="0"/>
                </a:lnTo>
                <a:lnTo>
                  <a:pt x="2440813" y="0"/>
                </a:lnTo>
                <a:lnTo>
                  <a:pt x="2463996" y="4661"/>
                </a:lnTo>
                <a:lnTo>
                  <a:pt x="2482929" y="17383"/>
                </a:lnTo>
                <a:lnTo>
                  <a:pt x="2495694" y="36272"/>
                </a:lnTo>
                <a:lnTo>
                  <a:pt x="2500376" y="59436"/>
                </a:lnTo>
                <a:lnTo>
                  <a:pt x="2500376" y="297561"/>
                </a:lnTo>
                <a:lnTo>
                  <a:pt x="2495694" y="320744"/>
                </a:lnTo>
                <a:lnTo>
                  <a:pt x="2482929" y="339677"/>
                </a:lnTo>
                <a:lnTo>
                  <a:pt x="2463996" y="352442"/>
                </a:lnTo>
                <a:lnTo>
                  <a:pt x="2440813" y="357124"/>
                </a:lnTo>
                <a:lnTo>
                  <a:pt x="59562" y="357124"/>
                </a:lnTo>
                <a:lnTo>
                  <a:pt x="36379" y="352442"/>
                </a:lnTo>
                <a:lnTo>
                  <a:pt x="17446" y="339677"/>
                </a:lnTo>
                <a:lnTo>
                  <a:pt x="4681" y="320744"/>
                </a:lnTo>
                <a:lnTo>
                  <a:pt x="0" y="297561"/>
                </a:lnTo>
                <a:lnTo>
                  <a:pt x="0" y="59436"/>
                </a:lnTo>
                <a:close/>
              </a:path>
            </a:pathLst>
          </a:custGeom>
          <a:ln w="25399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42998" y="5429250"/>
            <a:ext cx="2500630" cy="357505"/>
          </a:xfrm>
          <a:custGeom>
            <a:avLst/>
            <a:gdLst/>
            <a:ahLst/>
            <a:cxnLst/>
            <a:rect l="l" t="t" r="r" b="b"/>
            <a:pathLst>
              <a:path w="2500629" h="357504">
                <a:moveTo>
                  <a:pt x="0" y="59562"/>
                </a:moveTo>
                <a:lnTo>
                  <a:pt x="4681" y="36379"/>
                </a:lnTo>
                <a:lnTo>
                  <a:pt x="17446" y="17446"/>
                </a:lnTo>
                <a:lnTo>
                  <a:pt x="36379" y="4681"/>
                </a:lnTo>
                <a:lnTo>
                  <a:pt x="59562" y="0"/>
                </a:lnTo>
                <a:lnTo>
                  <a:pt x="2440813" y="0"/>
                </a:lnTo>
                <a:lnTo>
                  <a:pt x="2463996" y="4681"/>
                </a:lnTo>
                <a:lnTo>
                  <a:pt x="2482929" y="17446"/>
                </a:lnTo>
                <a:lnTo>
                  <a:pt x="2495694" y="36379"/>
                </a:lnTo>
                <a:lnTo>
                  <a:pt x="2500376" y="59562"/>
                </a:lnTo>
                <a:lnTo>
                  <a:pt x="2500376" y="297675"/>
                </a:lnTo>
                <a:lnTo>
                  <a:pt x="2495694" y="320847"/>
                </a:lnTo>
                <a:lnTo>
                  <a:pt x="2482929" y="339767"/>
                </a:lnTo>
                <a:lnTo>
                  <a:pt x="2463996" y="352523"/>
                </a:lnTo>
                <a:lnTo>
                  <a:pt x="2440813" y="357200"/>
                </a:lnTo>
                <a:lnTo>
                  <a:pt x="59562" y="357200"/>
                </a:lnTo>
                <a:lnTo>
                  <a:pt x="36379" y="352523"/>
                </a:lnTo>
                <a:lnTo>
                  <a:pt x="17446" y="339767"/>
                </a:lnTo>
                <a:lnTo>
                  <a:pt x="4681" y="320847"/>
                </a:lnTo>
                <a:lnTo>
                  <a:pt x="0" y="297675"/>
                </a:lnTo>
                <a:lnTo>
                  <a:pt x="0" y="59562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991614" y="4157548"/>
            <a:ext cx="1803400" cy="1586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Preorder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Traversal</a:t>
            </a:r>
            <a:endParaRPr sz="1800">
              <a:latin typeface="Calibri"/>
              <a:cs typeface="Calibri"/>
            </a:endParaRPr>
          </a:p>
          <a:p>
            <a:pPr marL="12700" marR="5080" indent="107950">
              <a:lnSpc>
                <a:spcPts val="5060"/>
              </a:lnSpc>
              <a:spcBef>
                <a:spcPts val="455"/>
              </a:spcBef>
            </a:pPr>
            <a:r>
              <a:rPr sz="1800" dirty="0">
                <a:latin typeface="Calibri"/>
                <a:cs typeface="Calibri"/>
              </a:rPr>
              <a:t>Inorder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Traversal Postorder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Traversal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207274" y="2708275"/>
            <a:ext cx="5391785" cy="2988310"/>
            <a:chOff x="1207274" y="2708275"/>
            <a:chExt cx="5391785" cy="2988310"/>
          </a:xfrm>
        </p:grpSpPr>
        <p:sp>
          <p:nvSpPr>
            <p:cNvPr id="23" name="object 23"/>
            <p:cNvSpPr/>
            <p:nvPr/>
          </p:nvSpPr>
          <p:spPr>
            <a:xfrm>
              <a:off x="2402332" y="2785236"/>
              <a:ext cx="4196715" cy="287020"/>
            </a:xfrm>
            <a:custGeom>
              <a:avLst/>
              <a:gdLst/>
              <a:ahLst/>
              <a:cxnLst/>
              <a:rect l="l" t="t" r="r" b="b"/>
              <a:pathLst>
                <a:path w="4196715" h="287019">
                  <a:moveTo>
                    <a:pt x="102616" y="192278"/>
                  </a:moveTo>
                  <a:lnTo>
                    <a:pt x="101092" y="188468"/>
                  </a:lnTo>
                  <a:lnTo>
                    <a:pt x="98082" y="187198"/>
                  </a:lnTo>
                  <a:lnTo>
                    <a:pt x="94615" y="185801"/>
                  </a:lnTo>
                  <a:lnTo>
                    <a:pt x="90932" y="187198"/>
                  </a:lnTo>
                  <a:lnTo>
                    <a:pt x="64033" y="250164"/>
                  </a:lnTo>
                  <a:lnTo>
                    <a:pt x="32893" y="0"/>
                  </a:lnTo>
                  <a:lnTo>
                    <a:pt x="20193" y="1651"/>
                  </a:lnTo>
                  <a:lnTo>
                    <a:pt x="51435" y="251498"/>
                  </a:lnTo>
                  <a:lnTo>
                    <a:pt x="12192" y="200152"/>
                  </a:lnTo>
                  <a:lnTo>
                    <a:pt x="10033" y="197358"/>
                  </a:lnTo>
                  <a:lnTo>
                    <a:pt x="6096" y="196850"/>
                  </a:lnTo>
                  <a:lnTo>
                    <a:pt x="3302" y="199009"/>
                  </a:lnTo>
                  <a:lnTo>
                    <a:pt x="508" y="201041"/>
                  </a:lnTo>
                  <a:lnTo>
                    <a:pt x="0" y="205105"/>
                  </a:lnTo>
                  <a:lnTo>
                    <a:pt x="2032" y="207899"/>
                  </a:lnTo>
                  <a:lnTo>
                    <a:pt x="62230" y="286639"/>
                  </a:lnTo>
                  <a:lnTo>
                    <a:pt x="67271" y="274828"/>
                  </a:lnTo>
                  <a:lnTo>
                    <a:pt x="101219" y="195453"/>
                  </a:lnTo>
                  <a:lnTo>
                    <a:pt x="102616" y="192278"/>
                  </a:lnTo>
                  <a:close/>
                </a:path>
                <a:path w="4196715" h="287019">
                  <a:moveTo>
                    <a:pt x="4196461" y="205105"/>
                  </a:moveTo>
                  <a:lnTo>
                    <a:pt x="4195940" y="201041"/>
                  </a:lnTo>
                  <a:lnTo>
                    <a:pt x="4193159" y="199009"/>
                  </a:lnTo>
                  <a:lnTo>
                    <a:pt x="4190365" y="196850"/>
                  </a:lnTo>
                  <a:lnTo>
                    <a:pt x="4186415" y="197358"/>
                  </a:lnTo>
                  <a:lnTo>
                    <a:pt x="4184269" y="200152"/>
                  </a:lnTo>
                  <a:lnTo>
                    <a:pt x="4145013" y="251498"/>
                  </a:lnTo>
                  <a:lnTo>
                    <a:pt x="4176268" y="1651"/>
                  </a:lnTo>
                  <a:lnTo>
                    <a:pt x="4163695" y="0"/>
                  </a:lnTo>
                  <a:lnTo>
                    <a:pt x="4132415" y="250177"/>
                  </a:lnTo>
                  <a:lnTo>
                    <a:pt x="4105516" y="187198"/>
                  </a:lnTo>
                  <a:lnTo>
                    <a:pt x="4101846" y="185801"/>
                  </a:lnTo>
                  <a:lnTo>
                    <a:pt x="4098366" y="187198"/>
                  </a:lnTo>
                  <a:lnTo>
                    <a:pt x="4095369" y="188468"/>
                  </a:lnTo>
                  <a:lnTo>
                    <a:pt x="4093845" y="192278"/>
                  </a:lnTo>
                  <a:lnTo>
                    <a:pt x="4095242" y="195453"/>
                  </a:lnTo>
                  <a:lnTo>
                    <a:pt x="4134231" y="286639"/>
                  </a:lnTo>
                  <a:lnTo>
                    <a:pt x="4143260" y="274828"/>
                  </a:lnTo>
                  <a:lnTo>
                    <a:pt x="4194416" y="207899"/>
                  </a:lnTo>
                  <a:lnTo>
                    <a:pt x="4196461" y="205105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13624" y="2714625"/>
              <a:ext cx="5358765" cy="2929890"/>
            </a:xfrm>
            <a:custGeom>
              <a:avLst/>
              <a:gdLst/>
              <a:ahLst/>
              <a:cxnLst/>
              <a:rect l="l" t="t" r="r" b="b"/>
              <a:pathLst>
                <a:path w="5358765" h="2929890">
                  <a:moveTo>
                    <a:pt x="1215250" y="71374"/>
                  </a:moveTo>
                  <a:lnTo>
                    <a:pt x="5358625" y="73025"/>
                  </a:lnTo>
                </a:path>
                <a:path w="5358765" h="2929890">
                  <a:moveTo>
                    <a:pt x="3036938" y="0"/>
                  </a:moveTo>
                  <a:lnTo>
                    <a:pt x="3072625" y="71374"/>
                  </a:lnTo>
                </a:path>
                <a:path w="5358765" h="2929890">
                  <a:moveTo>
                    <a:pt x="1587" y="1072388"/>
                  </a:moveTo>
                  <a:lnTo>
                    <a:pt x="0" y="2929750"/>
                  </a:lnTo>
                </a:path>
              </a:pathLst>
            </a:custGeom>
            <a:ln w="12700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14386" y="4307204"/>
              <a:ext cx="357505" cy="1389380"/>
            </a:xfrm>
            <a:custGeom>
              <a:avLst/>
              <a:gdLst/>
              <a:ahLst/>
              <a:cxnLst/>
              <a:rect l="l" t="t" r="r" b="b"/>
              <a:pathLst>
                <a:path w="357505" h="1389379">
                  <a:moveTo>
                    <a:pt x="357238" y="1337957"/>
                  </a:moveTo>
                  <a:lnTo>
                    <a:pt x="346379" y="1331556"/>
                  </a:lnTo>
                  <a:lnTo>
                    <a:pt x="268846" y="1285862"/>
                  </a:lnTo>
                  <a:lnTo>
                    <a:pt x="264909" y="1286865"/>
                  </a:lnTo>
                  <a:lnTo>
                    <a:pt x="261353" y="1292910"/>
                  </a:lnTo>
                  <a:lnTo>
                    <a:pt x="262369" y="1296809"/>
                  </a:lnTo>
                  <a:lnTo>
                    <a:pt x="321132" y="1331455"/>
                  </a:lnTo>
                  <a:lnTo>
                    <a:pt x="50" y="1330020"/>
                  </a:lnTo>
                  <a:lnTo>
                    <a:pt x="0" y="1342720"/>
                  </a:lnTo>
                  <a:lnTo>
                    <a:pt x="321119" y="1344155"/>
                  </a:lnTo>
                  <a:lnTo>
                    <a:pt x="344665" y="1344256"/>
                  </a:lnTo>
                  <a:lnTo>
                    <a:pt x="320941" y="1344256"/>
                  </a:lnTo>
                  <a:lnTo>
                    <a:pt x="261988" y="1378267"/>
                  </a:lnTo>
                  <a:lnTo>
                    <a:pt x="260972" y="1382153"/>
                  </a:lnTo>
                  <a:lnTo>
                    <a:pt x="264528" y="1388224"/>
                  </a:lnTo>
                  <a:lnTo>
                    <a:pt x="268338" y="1389265"/>
                  </a:lnTo>
                  <a:lnTo>
                    <a:pt x="346316" y="1344256"/>
                  </a:lnTo>
                  <a:lnTo>
                    <a:pt x="357238" y="1337957"/>
                  </a:lnTo>
                  <a:close/>
                </a:path>
                <a:path w="357505" h="1389379">
                  <a:moveTo>
                    <a:pt x="357238" y="695071"/>
                  </a:moveTo>
                  <a:lnTo>
                    <a:pt x="346265" y="688594"/>
                  </a:lnTo>
                  <a:lnTo>
                    <a:pt x="268846" y="642874"/>
                  </a:lnTo>
                  <a:lnTo>
                    <a:pt x="264909" y="643890"/>
                  </a:lnTo>
                  <a:lnTo>
                    <a:pt x="261353" y="649986"/>
                  </a:lnTo>
                  <a:lnTo>
                    <a:pt x="262369" y="653923"/>
                  </a:lnTo>
                  <a:lnTo>
                    <a:pt x="321094" y="688492"/>
                  </a:lnTo>
                  <a:lnTo>
                    <a:pt x="50" y="687070"/>
                  </a:lnTo>
                  <a:lnTo>
                    <a:pt x="0" y="699770"/>
                  </a:lnTo>
                  <a:lnTo>
                    <a:pt x="321170" y="701192"/>
                  </a:lnTo>
                  <a:lnTo>
                    <a:pt x="344665" y="701294"/>
                  </a:lnTo>
                  <a:lnTo>
                    <a:pt x="321005" y="701294"/>
                  </a:lnTo>
                  <a:lnTo>
                    <a:pt x="261988" y="735330"/>
                  </a:lnTo>
                  <a:lnTo>
                    <a:pt x="260972" y="739267"/>
                  </a:lnTo>
                  <a:lnTo>
                    <a:pt x="262750" y="742188"/>
                  </a:lnTo>
                  <a:lnTo>
                    <a:pt x="264528" y="745236"/>
                  </a:lnTo>
                  <a:lnTo>
                    <a:pt x="268338" y="746379"/>
                  </a:lnTo>
                  <a:lnTo>
                    <a:pt x="346443" y="701294"/>
                  </a:lnTo>
                  <a:lnTo>
                    <a:pt x="357238" y="695071"/>
                  </a:lnTo>
                  <a:close/>
                </a:path>
                <a:path w="357505" h="1389379">
                  <a:moveTo>
                    <a:pt x="357238" y="52070"/>
                  </a:moveTo>
                  <a:lnTo>
                    <a:pt x="346456" y="45720"/>
                  </a:lnTo>
                  <a:lnTo>
                    <a:pt x="268846" y="0"/>
                  </a:lnTo>
                  <a:lnTo>
                    <a:pt x="264909" y="1016"/>
                  </a:lnTo>
                  <a:lnTo>
                    <a:pt x="263131" y="4064"/>
                  </a:lnTo>
                  <a:lnTo>
                    <a:pt x="261353" y="6985"/>
                  </a:lnTo>
                  <a:lnTo>
                    <a:pt x="262369" y="10922"/>
                  </a:lnTo>
                  <a:lnTo>
                    <a:pt x="321157" y="45618"/>
                  </a:lnTo>
                  <a:lnTo>
                    <a:pt x="50" y="44196"/>
                  </a:lnTo>
                  <a:lnTo>
                    <a:pt x="0" y="56896"/>
                  </a:lnTo>
                  <a:lnTo>
                    <a:pt x="321005" y="58318"/>
                  </a:lnTo>
                  <a:lnTo>
                    <a:pt x="344652" y="58420"/>
                  </a:lnTo>
                  <a:lnTo>
                    <a:pt x="320827" y="58420"/>
                  </a:lnTo>
                  <a:lnTo>
                    <a:pt x="265036" y="90678"/>
                  </a:lnTo>
                  <a:lnTo>
                    <a:pt x="261988" y="92329"/>
                  </a:lnTo>
                  <a:lnTo>
                    <a:pt x="260972" y="96266"/>
                  </a:lnTo>
                  <a:lnTo>
                    <a:pt x="264528" y="102362"/>
                  </a:lnTo>
                  <a:lnTo>
                    <a:pt x="268338" y="103378"/>
                  </a:lnTo>
                  <a:lnTo>
                    <a:pt x="346227" y="58420"/>
                  </a:lnTo>
                  <a:lnTo>
                    <a:pt x="357238" y="5207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636395">
              <a:lnSpc>
                <a:spcPct val="100000"/>
              </a:lnSpc>
              <a:spcBef>
                <a:spcPts val="105"/>
              </a:spcBef>
            </a:pPr>
            <a:r>
              <a:rPr dirty="0"/>
              <a:t>Depth</a:t>
            </a:r>
            <a:r>
              <a:rPr spc="-125" dirty="0"/>
              <a:t> </a:t>
            </a:r>
            <a:r>
              <a:rPr dirty="0"/>
              <a:t>First</a:t>
            </a:r>
            <a:r>
              <a:rPr spc="-100" dirty="0"/>
              <a:t> </a:t>
            </a:r>
            <a:r>
              <a:rPr spc="-50" dirty="0"/>
              <a:t>Traversal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53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spc="-10" dirty="0"/>
              <a:t>Following</a:t>
            </a:r>
            <a:r>
              <a:rPr sz="3200" spc="-120" dirty="0"/>
              <a:t> </a:t>
            </a:r>
            <a:r>
              <a:rPr sz="3200" dirty="0"/>
              <a:t>three</a:t>
            </a:r>
            <a:r>
              <a:rPr sz="3200" spc="-130" dirty="0"/>
              <a:t> </a:t>
            </a:r>
            <a:r>
              <a:rPr sz="3200" spc="-20" dirty="0"/>
              <a:t>traversal</a:t>
            </a:r>
            <a:r>
              <a:rPr sz="3200" spc="-130" dirty="0"/>
              <a:t> </a:t>
            </a:r>
            <a:r>
              <a:rPr sz="3200" dirty="0"/>
              <a:t>techniques</a:t>
            </a:r>
            <a:r>
              <a:rPr sz="3200" spc="-100" dirty="0"/>
              <a:t> </a:t>
            </a:r>
            <a:r>
              <a:rPr sz="3200" dirty="0"/>
              <a:t>fall</a:t>
            </a:r>
            <a:r>
              <a:rPr sz="3200" spc="-120" dirty="0"/>
              <a:t> </a:t>
            </a:r>
            <a:r>
              <a:rPr sz="3200" spc="-10" dirty="0"/>
              <a:t>under </a:t>
            </a:r>
            <a:r>
              <a:rPr sz="3200" dirty="0"/>
              <a:t>Depth</a:t>
            </a:r>
            <a:r>
              <a:rPr sz="3200" spc="-100" dirty="0"/>
              <a:t> </a:t>
            </a:r>
            <a:r>
              <a:rPr sz="3200" dirty="0"/>
              <a:t>First</a:t>
            </a:r>
            <a:r>
              <a:rPr sz="3200" spc="-85" dirty="0"/>
              <a:t> </a:t>
            </a:r>
            <a:r>
              <a:rPr sz="3200" spc="-10" dirty="0"/>
              <a:t>Traversal-</a:t>
            </a:r>
            <a:endParaRPr sz="3200"/>
          </a:p>
          <a:p>
            <a:pPr marL="927100" lvl="1" indent="-513715">
              <a:lnSpc>
                <a:spcPct val="100000"/>
              </a:lnSpc>
              <a:spcBef>
                <a:spcPts val="690"/>
              </a:spcBef>
              <a:buAutoNum type="arabicPeriod"/>
              <a:tabLst>
                <a:tab pos="927100" algn="l"/>
              </a:tabLst>
            </a:pPr>
            <a:r>
              <a:rPr sz="2800" dirty="0">
                <a:latin typeface="Calibri"/>
                <a:cs typeface="Calibri"/>
              </a:rPr>
              <a:t>Preorder</a:t>
            </a:r>
            <a:r>
              <a:rPr sz="2800" spc="-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Traversal</a:t>
            </a:r>
            <a:endParaRPr sz="2800">
              <a:latin typeface="Calibri"/>
              <a:cs typeface="Calibri"/>
            </a:endParaRPr>
          </a:p>
          <a:p>
            <a:pPr marL="927100" lvl="1" indent="-513715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927100" algn="l"/>
              </a:tabLst>
            </a:pPr>
            <a:r>
              <a:rPr sz="2800" dirty="0">
                <a:latin typeface="Calibri"/>
                <a:cs typeface="Calibri"/>
              </a:rPr>
              <a:t>Inorder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Traversal</a:t>
            </a:r>
            <a:endParaRPr sz="2800">
              <a:latin typeface="Calibri"/>
              <a:cs typeface="Calibri"/>
            </a:endParaRPr>
          </a:p>
          <a:p>
            <a:pPr marL="927100" lvl="1" indent="-51371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927100" algn="l"/>
              </a:tabLst>
            </a:pPr>
            <a:r>
              <a:rPr sz="2800" spc="-10" dirty="0">
                <a:latin typeface="Calibri"/>
                <a:cs typeface="Calibri"/>
              </a:rPr>
              <a:t>Postorder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Traversal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880235">
              <a:lnSpc>
                <a:spcPct val="100000"/>
              </a:lnSpc>
              <a:spcBef>
                <a:spcPts val="105"/>
              </a:spcBef>
            </a:pPr>
            <a:r>
              <a:rPr dirty="0"/>
              <a:t>Preorder</a:t>
            </a:r>
            <a:r>
              <a:rPr spc="-135" dirty="0"/>
              <a:t> </a:t>
            </a:r>
            <a:r>
              <a:rPr spc="-55" dirty="0"/>
              <a:t>Traversal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2586"/>
            <a:ext cx="8013700" cy="1941830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30"/>
              </a:spcBef>
              <a:buFont typeface="Arial"/>
              <a:buChar char="•"/>
              <a:tabLst>
                <a:tab pos="354965" algn="l"/>
              </a:tabLst>
            </a:pPr>
            <a:r>
              <a:rPr sz="32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Algorithm-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20"/>
              </a:spcBef>
              <a:buFont typeface="Arial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Visit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root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5650" algn="l"/>
              </a:tabLst>
            </a:pPr>
            <a:r>
              <a:rPr sz="2400" spc="-40" dirty="0">
                <a:latin typeface="Calibri"/>
                <a:cs typeface="Calibri"/>
              </a:rPr>
              <a:t>Traverse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i.e.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Preorder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(left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tree)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5650" algn="l"/>
              </a:tabLst>
            </a:pPr>
            <a:r>
              <a:rPr sz="2400" spc="-40" dirty="0">
                <a:latin typeface="Calibri"/>
                <a:cs typeface="Calibri"/>
              </a:rPr>
              <a:t>Traverse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i.e.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Preorder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(right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tree)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4125" y="3871912"/>
            <a:ext cx="4210050" cy="26860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150" y="1304925"/>
            <a:ext cx="5943600" cy="429577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040255">
              <a:lnSpc>
                <a:spcPct val="100000"/>
              </a:lnSpc>
              <a:spcBef>
                <a:spcPts val="105"/>
              </a:spcBef>
            </a:pPr>
            <a:r>
              <a:rPr dirty="0"/>
              <a:t>Inorder</a:t>
            </a:r>
            <a:r>
              <a:rPr spc="-155" dirty="0"/>
              <a:t> </a:t>
            </a:r>
            <a:r>
              <a:rPr spc="-50" dirty="0"/>
              <a:t>Traversal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1131"/>
            <a:ext cx="7838440" cy="186182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Algorithm-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05"/>
              </a:spcBef>
              <a:buFont typeface="Arial"/>
              <a:buChar char="–"/>
              <a:tabLst>
                <a:tab pos="755650" algn="l"/>
              </a:tabLst>
            </a:pPr>
            <a:r>
              <a:rPr sz="2400" spc="-40" dirty="0">
                <a:latin typeface="Calibri"/>
                <a:cs typeface="Calibri"/>
              </a:rPr>
              <a:t>Traverse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i.e.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Inorder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(left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tree)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Visit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root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5650" algn="l"/>
              </a:tabLst>
            </a:pPr>
            <a:r>
              <a:rPr sz="2400" spc="-40" dirty="0">
                <a:latin typeface="Calibri"/>
                <a:cs typeface="Calibri"/>
              </a:rPr>
              <a:t>Traverse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i.e.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Inorder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(right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tree)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0775" y="3690937"/>
            <a:ext cx="4210050" cy="268605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5975" y="704850"/>
            <a:ext cx="5943600" cy="543877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774825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Postorder</a:t>
            </a:r>
            <a:r>
              <a:rPr spc="-175" dirty="0"/>
              <a:t> </a:t>
            </a:r>
            <a:r>
              <a:rPr spc="-50" dirty="0"/>
              <a:t>Traversal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1131"/>
            <a:ext cx="7802880" cy="222758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Algorithm-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05"/>
              </a:spcBef>
              <a:buFont typeface="Arial"/>
              <a:buChar char="–"/>
              <a:tabLst>
                <a:tab pos="755650" algn="l"/>
              </a:tabLst>
            </a:pPr>
            <a:r>
              <a:rPr sz="2400" spc="-40" dirty="0">
                <a:latin typeface="Calibri"/>
                <a:cs typeface="Calibri"/>
              </a:rPr>
              <a:t>Traverse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i.e.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Postorder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(left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tree)</a:t>
            </a:r>
            <a:endParaRPr sz="2400">
              <a:latin typeface="Calibri"/>
              <a:cs typeface="Calibri"/>
            </a:endParaRPr>
          </a:p>
          <a:p>
            <a:pPr marL="755015" marR="349250" lvl="1" indent="-28575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285" algn="l"/>
              </a:tabLst>
            </a:pPr>
            <a:r>
              <a:rPr sz="2400" spc="-40" dirty="0">
                <a:latin typeface="Calibri"/>
                <a:cs typeface="Calibri"/>
              </a:rPr>
              <a:t>Traverse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i.e.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Postorder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(right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sub 	</a:t>
            </a:r>
            <a:r>
              <a:rPr sz="2400" spc="-10" dirty="0">
                <a:latin typeface="Calibri"/>
                <a:cs typeface="Calibri"/>
              </a:rPr>
              <a:t>tree)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Visit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root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1750" y="4076700"/>
            <a:ext cx="4210050" cy="268605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5900" y="1219187"/>
            <a:ext cx="5943600" cy="482917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671320">
              <a:lnSpc>
                <a:spcPct val="100000"/>
              </a:lnSpc>
              <a:spcBef>
                <a:spcPts val="105"/>
              </a:spcBef>
            </a:pPr>
            <a:r>
              <a:rPr dirty="0"/>
              <a:t>Breadth</a:t>
            </a:r>
            <a:r>
              <a:rPr spc="-145" dirty="0"/>
              <a:t> </a:t>
            </a:r>
            <a:r>
              <a:rPr dirty="0"/>
              <a:t>First</a:t>
            </a:r>
            <a:r>
              <a:rPr spc="-114" dirty="0"/>
              <a:t> </a:t>
            </a:r>
            <a:r>
              <a:rPr spc="-1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7686040" cy="2075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Breadth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First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Traversal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tree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prints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nodes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tree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level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level.</a:t>
            </a:r>
            <a:endParaRPr sz="3200">
              <a:latin typeface="Calibri"/>
              <a:cs typeface="Calibri"/>
            </a:endParaRPr>
          </a:p>
          <a:p>
            <a:pPr marL="355600" marR="9144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Breadth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First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Traversal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also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called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Level </a:t>
            </a:r>
            <a:r>
              <a:rPr sz="3200" b="1" dirty="0">
                <a:latin typeface="Calibri"/>
                <a:cs typeface="Calibri"/>
              </a:rPr>
              <a:t>Order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Traversal</a:t>
            </a:r>
            <a:r>
              <a:rPr sz="3200" spc="-10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1275" y="3871912"/>
            <a:ext cx="4210050" cy="268605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360680">
              <a:lnSpc>
                <a:spcPct val="100000"/>
              </a:lnSpc>
              <a:spcBef>
                <a:spcPts val="105"/>
              </a:spcBef>
            </a:pPr>
            <a:r>
              <a:rPr dirty="0"/>
              <a:t>Binary</a:t>
            </a:r>
            <a:r>
              <a:rPr spc="-100" dirty="0"/>
              <a:t> </a:t>
            </a:r>
            <a:r>
              <a:rPr dirty="0"/>
              <a:t>Search</a:t>
            </a:r>
            <a:r>
              <a:rPr spc="-80" dirty="0"/>
              <a:t> </a:t>
            </a:r>
            <a:r>
              <a:rPr spc="-50" dirty="0"/>
              <a:t>Tree</a:t>
            </a:r>
            <a:r>
              <a:rPr spc="-75" dirty="0"/>
              <a:t> </a:t>
            </a:r>
            <a:r>
              <a:rPr spc="-10" dirty="0"/>
              <a:t>construction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1131"/>
            <a:ext cx="7463790" cy="142303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binary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search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(BST),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contains: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05"/>
              </a:spcBef>
              <a:buFont typeface="Arial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Only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tree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Only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tree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6348" y="3419475"/>
            <a:ext cx="5353050" cy="269557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045970">
              <a:lnSpc>
                <a:spcPct val="100000"/>
              </a:lnSpc>
              <a:spcBef>
                <a:spcPts val="105"/>
              </a:spcBef>
            </a:pPr>
            <a:r>
              <a:rPr dirty="0"/>
              <a:t>BST</a:t>
            </a:r>
            <a:r>
              <a:rPr spc="-45" dirty="0"/>
              <a:t> </a:t>
            </a:r>
            <a:r>
              <a:rPr spc="-10" dirty="0"/>
              <a:t>construction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840" y="1556359"/>
            <a:ext cx="7865109" cy="21596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93065" indent="-3422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93065" algn="l"/>
              </a:tabLst>
            </a:pP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distinct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binary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possible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distinct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Nodes</a:t>
            </a:r>
            <a:endParaRPr sz="2000">
              <a:latin typeface="Calibri"/>
              <a:cs typeface="Calibri"/>
            </a:endParaRPr>
          </a:p>
          <a:p>
            <a:pPr marL="393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alibri"/>
                <a:cs typeface="Calibri"/>
              </a:rPr>
              <a:t>=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1950" baseline="25641" dirty="0">
                <a:latin typeface="Calibri"/>
                <a:cs typeface="Calibri"/>
              </a:rPr>
              <a:t>2×3</a:t>
            </a:r>
            <a:r>
              <a:rPr sz="2000" dirty="0">
                <a:latin typeface="Calibri"/>
                <a:cs typeface="Calibri"/>
              </a:rPr>
              <a:t>C</a:t>
            </a:r>
            <a:r>
              <a:rPr sz="1950" baseline="-21367" dirty="0">
                <a:latin typeface="Calibri"/>
                <a:cs typeface="Calibri"/>
              </a:rPr>
              <a:t>3</a:t>
            </a:r>
            <a:r>
              <a:rPr sz="1950" spc="247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3+1</a:t>
            </a:r>
            <a:endParaRPr sz="2000">
              <a:latin typeface="Calibri"/>
              <a:cs typeface="Calibri"/>
            </a:endParaRPr>
          </a:p>
          <a:p>
            <a:pPr marL="393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alibri"/>
                <a:cs typeface="Calibri"/>
              </a:rPr>
              <a:t>=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1950" baseline="25641" dirty="0">
                <a:latin typeface="Calibri"/>
                <a:cs typeface="Calibri"/>
              </a:rPr>
              <a:t>6</a:t>
            </a:r>
            <a:r>
              <a:rPr sz="2000" dirty="0">
                <a:latin typeface="Calibri"/>
                <a:cs typeface="Calibri"/>
              </a:rPr>
              <a:t>C</a:t>
            </a:r>
            <a:r>
              <a:rPr sz="1950" baseline="-21367" dirty="0">
                <a:latin typeface="Calibri"/>
                <a:cs typeface="Calibri"/>
              </a:rPr>
              <a:t>3</a:t>
            </a:r>
            <a:r>
              <a:rPr sz="1950" spc="217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60" dirty="0">
                <a:latin typeface="Calibri"/>
                <a:cs typeface="Calibri"/>
              </a:rPr>
              <a:t>4</a:t>
            </a:r>
            <a:endParaRPr sz="2000">
              <a:latin typeface="Calibri"/>
              <a:cs typeface="Calibri"/>
            </a:endParaRPr>
          </a:p>
          <a:p>
            <a:pPr marL="393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alibri"/>
                <a:cs typeface="Calibri"/>
              </a:rPr>
              <a:t>=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5</a:t>
            </a:r>
            <a:endParaRPr sz="2000">
              <a:latin typeface="Calibri"/>
              <a:cs typeface="Calibri"/>
            </a:endParaRPr>
          </a:p>
          <a:p>
            <a:pPr marL="393700" marR="5588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93700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three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distinct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distinct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binary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trees </a:t>
            </a:r>
            <a:r>
              <a:rPr sz="2000" spc="-20" dirty="0">
                <a:latin typeface="Calibri"/>
                <a:cs typeface="Calibri"/>
              </a:rPr>
              <a:t>are: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375" y="4195762"/>
            <a:ext cx="6257925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98958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6709"/>
            <a:ext cx="7181215" cy="188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Construct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Binary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Tree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(BST)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following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sequence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</a:t>
            </a:r>
            <a:r>
              <a:rPr sz="2000" spc="-10" dirty="0">
                <a:latin typeface="Calibri"/>
                <a:cs typeface="Calibri"/>
              </a:rPr>
              <a:t>numbers:</a:t>
            </a:r>
            <a:endParaRPr sz="2000">
              <a:latin typeface="Calibri"/>
              <a:cs typeface="Calibri"/>
            </a:endParaRPr>
          </a:p>
          <a:p>
            <a:pPr marL="2756535">
              <a:lnSpc>
                <a:spcPct val="100000"/>
              </a:lnSpc>
              <a:spcBef>
                <a:spcPts val="409"/>
              </a:spcBef>
            </a:pPr>
            <a:r>
              <a:rPr sz="1600" dirty="0">
                <a:latin typeface="Calibri"/>
                <a:cs typeface="Calibri"/>
              </a:rPr>
              <a:t>50,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70,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60,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20,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90,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10,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40,</a:t>
            </a:r>
            <a:r>
              <a:rPr sz="1600" spc="-25" dirty="0">
                <a:latin typeface="Calibri"/>
                <a:cs typeface="Calibri"/>
              </a:rPr>
              <a:t> 100</a:t>
            </a: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When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elements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given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sequence,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09"/>
              </a:spcBef>
              <a:buFont typeface="Arial"/>
              <a:buChar char="–"/>
              <a:tabLst>
                <a:tab pos="756285" algn="l"/>
              </a:tabLst>
            </a:pPr>
            <a:r>
              <a:rPr sz="1600" spc="-10" dirty="0">
                <a:latin typeface="Calibri"/>
                <a:cs typeface="Calibri"/>
              </a:rPr>
              <a:t>Always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consider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first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element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root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node.</a:t>
            </a:r>
            <a:endParaRPr sz="16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756285" algn="l"/>
              </a:tabLst>
            </a:pPr>
            <a:r>
              <a:rPr sz="1600" dirty="0">
                <a:latin typeface="Calibri"/>
                <a:cs typeface="Calibri"/>
              </a:rPr>
              <a:t>Consider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given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elements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insert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BST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one.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23975" y="3571875"/>
            <a:ext cx="3905250" cy="3200400"/>
            <a:chOff x="1323975" y="3571875"/>
            <a:chExt cx="3905250" cy="32004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3975" y="4371974"/>
              <a:ext cx="3905250" cy="2400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8874" y="3571875"/>
              <a:ext cx="1562100" cy="8763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3500" y="3857625"/>
              <a:ext cx="762000" cy="1619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4392" y="431286"/>
            <a:ext cx="3794364" cy="33315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4100" y="3954889"/>
            <a:ext cx="4476750" cy="268924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6507" y="226151"/>
            <a:ext cx="4718957" cy="33310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6204" y="3818213"/>
            <a:ext cx="4506463" cy="294965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9174" y="200025"/>
            <a:ext cx="5038725" cy="30765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5901" y="3524214"/>
            <a:ext cx="4421609" cy="328683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021839">
              <a:lnSpc>
                <a:spcPct val="100000"/>
              </a:lnSpc>
              <a:spcBef>
                <a:spcPts val="105"/>
              </a:spcBef>
            </a:pPr>
            <a:r>
              <a:rPr dirty="0"/>
              <a:t>Practice</a:t>
            </a:r>
            <a:r>
              <a:rPr spc="-100" dirty="0"/>
              <a:t> </a:t>
            </a:r>
            <a:r>
              <a:rPr spc="-10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6359"/>
            <a:ext cx="7581265" cy="319976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</a:tabLst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Problem-</a:t>
            </a:r>
            <a:r>
              <a:rPr sz="20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01: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binary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generated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inserting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order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following integers-</a:t>
            </a:r>
            <a:endParaRPr sz="2000">
              <a:latin typeface="Calibri"/>
              <a:cs typeface="Calibri"/>
            </a:endParaRPr>
          </a:p>
          <a:p>
            <a:pPr marL="2756535">
              <a:lnSpc>
                <a:spcPct val="100000"/>
              </a:lnSpc>
              <a:spcBef>
                <a:spcPts val="414"/>
              </a:spcBef>
            </a:pPr>
            <a:r>
              <a:rPr sz="1600" dirty="0">
                <a:latin typeface="Calibri"/>
                <a:cs typeface="Calibri"/>
              </a:rPr>
              <a:t>50,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15,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62,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5,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20,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58,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91,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8,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37,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60,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24</a:t>
            </a:r>
            <a:endParaRPr sz="1600">
              <a:latin typeface="Calibri"/>
              <a:cs typeface="Calibri"/>
            </a:endParaRPr>
          </a:p>
          <a:p>
            <a:pPr marL="355600" marR="99060" indent="-342900">
              <a:lnSpc>
                <a:spcPct val="100000"/>
              </a:lnSpc>
              <a:spcBef>
                <a:spcPts val="450"/>
              </a:spcBef>
              <a:buFont typeface="Arial"/>
              <a:buChar char="•"/>
              <a:tabLst>
                <a:tab pos="355600" algn="l"/>
                <a:tab pos="249618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left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subtree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right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subtree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root </a:t>
            </a:r>
            <a:r>
              <a:rPr sz="2000" spc="-10" dirty="0">
                <a:latin typeface="Calibri"/>
                <a:cs typeface="Calibri"/>
              </a:rPr>
              <a:t>respectively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2000" u="none" spc="-5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409"/>
              </a:spcBef>
              <a:tabLst>
                <a:tab pos="756285" algn="l"/>
              </a:tabLst>
            </a:pPr>
            <a:r>
              <a:rPr sz="1600" spc="-50" dirty="0">
                <a:latin typeface="Arial"/>
                <a:cs typeface="Arial"/>
              </a:rPr>
              <a:t>–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00" dirty="0">
                <a:latin typeface="Calibri"/>
                <a:cs typeface="Calibri"/>
              </a:rPr>
              <a:t>(4,</a:t>
            </a:r>
            <a:r>
              <a:rPr sz="1600" spc="-25" dirty="0">
                <a:latin typeface="Calibri"/>
                <a:cs typeface="Calibri"/>
              </a:rPr>
              <a:t> 7)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90"/>
              </a:spcBef>
              <a:tabLst>
                <a:tab pos="756285" algn="l"/>
              </a:tabLst>
            </a:pPr>
            <a:r>
              <a:rPr sz="1600" spc="-50" dirty="0">
                <a:latin typeface="Arial"/>
                <a:cs typeface="Arial"/>
              </a:rPr>
              <a:t>–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00" dirty="0">
                <a:latin typeface="Calibri"/>
                <a:cs typeface="Calibri"/>
              </a:rPr>
              <a:t>(7,</a:t>
            </a:r>
            <a:r>
              <a:rPr sz="1600" spc="-25" dirty="0">
                <a:latin typeface="Calibri"/>
                <a:cs typeface="Calibri"/>
              </a:rPr>
              <a:t> 4)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80"/>
              </a:spcBef>
              <a:tabLst>
                <a:tab pos="756285" algn="l"/>
              </a:tabLst>
            </a:pPr>
            <a:r>
              <a:rPr sz="1600" spc="-50" dirty="0">
                <a:latin typeface="Arial"/>
                <a:cs typeface="Arial"/>
              </a:rPr>
              <a:t>–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00" dirty="0">
                <a:latin typeface="Calibri"/>
                <a:cs typeface="Calibri"/>
              </a:rPr>
              <a:t>(8,</a:t>
            </a:r>
            <a:r>
              <a:rPr sz="1600" spc="-25" dirty="0">
                <a:latin typeface="Calibri"/>
                <a:cs typeface="Calibri"/>
              </a:rPr>
              <a:t> 3)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85"/>
              </a:spcBef>
              <a:tabLst>
                <a:tab pos="756285" algn="l"/>
              </a:tabLst>
            </a:pPr>
            <a:r>
              <a:rPr sz="1600" spc="-50" dirty="0">
                <a:latin typeface="Arial"/>
                <a:cs typeface="Arial"/>
              </a:rPr>
              <a:t>–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00" dirty="0">
                <a:latin typeface="Calibri"/>
                <a:cs typeface="Calibri"/>
              </a:rPr>
              <a:t>(3,</a:t>
            </a:r>
            <a:r>
              <a:rPr sz="1600" spc="-25" dirty="0">
                <a:latin typeface="Calibri"/>
                <a:cs typeface="Calibri"/>
              </a:rPr>
              <a:t> 8)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021839">
              <a:lnSpc>
                <a:spcPct val="100000"/>
              </a:lnSpc>
              <a:spcBef>
                <a:spcPts val="105"/>
              </a:spcBef>
            </a:pPr>
            <a:r>
              <a:rPr dirty="0"/>
              <a:t>Practice</a:t>
            </a:r>
            <a:r>
              <a:rPr spc="-100" dirty="0"/>
              <a:t> </a:t>
            </a:r>
            <a:r>
              <a:rPr spc="-10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0506"/>
            <a:ext cx="7994015" cy="27368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Problem-</a:t>
            </a:r>
            <a:r>
              <a:rPr sz="24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02: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distinct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binary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constructed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out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distinct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keys?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05"/>
              </a:spcBef>
              <a:tabLst>
                <a:tab pos="756285" algn="l"/>
              </a:tabLst>
            </a:pPr>
            <a:r>
              <a:rPr sz="2000" spc="-50" dirty="0">
                <a:latin typeface="Arial"/>
                <a:cs typeface="Arial"/>
              </a:rPr>
              <a:t>–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50" dirty="0">
                <a:latin typeface="Calibri"/>
                <a:cs typeface="Calibri"/>
              </a:rPr>
              <a:t>5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  <a:tabLst>
                <a:tab pos="756285" algn="l"/>
              </a:tabLst>
            </a:pPr>
            <a:r>
              <a:rPr sz="2000" spc="-50" dirty="0">
                <a:latin typeface="Arial"/>
                <a:cs typeface="Arial"/>
              </a:rPr>
              <a:t>–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Calibri"/>
                <a:cs typeface="Calibri"/>
              </a:rPr>
              <a:t>14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484"/>
              </a:spcBef>
              <a:tabLst>
                <a:tab pos="756285" algn="l"/>
              </a:tabLst>
            </a:pPr>
            <a:r>
              <a:rPr sz="2000" spc="-50" dirty="0">
                <a:latin typeface="Arial"/>
                <a:cs typeface="Arial"/>
              </a:rPr>
              <a:t>–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Calibri"/>
                <a:cs typeface="Calibri"/>
              </a:rPr>
              <a:t>24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  <a:tabLst>
                <a:tab pos="756285" algn="l"/>
              </a:tabLst>
            </a:pPr>
            <a:r>
              <a:rPr sz="2000" spc="-50" dirty="0">
                <a:latin typeface="Arial"/>
                <a:cs typeface="Arial"/>
              </a:rPr>
              <a:t>–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Calibri"/>
                <a:cs typeface="Calibri"/>
              </a:rPr>
              <a:t>35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017269">
              <a:lnSpc>
                <a:spcPct val="100000"/>
              </a:lnSpc>
              <a:spcBef>
                <a:spcPts val="105"/>
              </a:spcBef>
            </a:pPr>
            <a:r>
              <a:rPr dirty="0"/>
              <a:t>C</a:t>
            </a:r>
            <a:r>
              <a:rPr spc="-20" dirty="0"/>
              <a:t> </a:t>
            </a:r>
            <a:r>
              <a:rPr dirty="0"/>
              <a:t>code</a:t>
            </a:r>
            <a:r>
              <a:rPr spc="-30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dirty="0"/>
              <a:t>BST</a:t>
            </a:r>
            <a:r>
              <a:rPr spc="-40" dirty="0"/>
              <a:t> </a:t>
            </a:r>
            <a:r>
              <a:rPr spc="-10" dirty="0"/>
              <a:t>construction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599" y="1612497"/>
            <a:ext cx="2357437" cy="90827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57162" y="1623313"/>
            <a:ext cx="8700770" cy="5234940"/>
            <a:chOff x="357162" y="1623313"/>
            <a:chExt cx="8700770" cy="52349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18025" y="1623313"/>
              <a:ext cx="4539830" cy="28342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7162" y="2752724"/>
              <a:ext cx="4286250" cy="41052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468880">
              <a:lnSpc>
                <a:spcPct val="100000"/>
              </a:lnSpc>
              <a:spcBef>
                <a:spcPts val="105"/>
              </a:spcBef>
            </a:pPr>
            <a:r>
              <a:rPr dirty="0"/>
              <a:t>BST</a:t>
            </a:r>
            <a:r>
              <a:rPr spc="-45" dirty="0"/>
              <a:t> </a:t>
            </a:r>
            <a:r>
              <a:rPr spc="-60" dirty="0"/>
              <a:t>Traversal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5669991"/>
            <a:ext cx="74529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</a:tabLst>
            </a:pPr>
            <a:r>
              <a:rPr sz="1600" dirty="0">
                <a:latin typeface="Calibri"/>
                <a:cs typeface="Calibri"/>
              </a:rPr>
              <a:t>Inorder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traversal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binary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search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tree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always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yields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nodes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increasing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212" y="1738248"/>
            <a:ext cx="3790950" cy="17430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48175" y="1738248"/>
            <a:ext cx="4114800" cy="310515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407795">
              <a:lnSpc>
                <a:spcPct val="100000"/>
              </a:lnSpc>
              <a:spcBef>
                <a:spcPts val="105"/>
              </a:spcBef>
            </a:pPr>
            <a:r>
              <a:rPr dirty="0"/>
              <a:t>C</a:t>
            </a:r>
            <a:r>
              <a:rPr spc="-10" dirty="0"/>
              <a:t> </a:t>
            </a:r>
            <a:r>
              <a:rPr dirty="0"/>
              <a:t>Code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BST</a:t>
            </a:r>
            <a:r>
              <a:rPr spc="-40" dirty="0"/>
              <a:t> </a:t>
            </a:r>
            <a:r>
              <a:rPr spc="-55" dirty="0"/>
              <a:t>Traversal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6794"/>
            <a:ext cx="4741545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latin typeface="Calibri"/>
                <a:cs typeface="Calibri"/>
              </a:rPr>
              <a:t>Void</a:t>
            </a:r>
            <a:r>
              <a:rPr sz="3000" spc="-114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inorder(node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*root)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000" spc="-50" dirty="0">
                <a:latin typeface="Calibri"/>
                <a:cs typeface="Calibri"/>
              </a:rPr>
              <a:t>{</a:t>
            </a:r>
            <a:endParaRPr sz="3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3000" spc="-10" dirty="0">
                <a:latin typeface="Calibri"/>
                <a:cs typeface="Calibri"/>
              </a:rPr>
              <a:t>if(root!=NULL)</a:t>
            </a:r>
            <a:endParaRPr sz="3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3000" spc="-50" dirty="0">
                <a:latin typeface="Calibri"/>
                <a:cs typeface="Calibri"/>
              </a:rPr>
              <a:t>{</a:t>
            </a:r>
            <a:endParaRPr sz="3000">
              <a:latin typeface="Calibri"/>
              <a:cs typeface="Calibri"/>
            </a:endParaRPr>
          </a:p>
          <a:p>
            <a:pPr marL="927100" marR="5080">
              <a:lnSpc>
                <a:spcPct val="100000"/>
              </a:lnSpc>
            </a:pPr>
            <a:r>
              <a:rPr sz="3000" spc="-25" dirty="0">
                <a:latin typeface="Calibri"/>
                <a:cs typeface="Calibri"/>
              </a:rPr>
              <a:t>inorder(root-</a:t>
            </a:r>
            <a:r>
              <a:rPr sz="3000" spc="-10" dirty="0">
                <a:latin typeface="Calibri"/>
                <a:cs typeface="Calibri"/>
              </a:rPr>
              <a:t>&gt;left); </a:t>
            </a:r>
            <a:r>
              <a:rPr sz="3000" dirty="0">
                <a:latin typeface="Calibri"/>
                <a:cs typeface="Calibri"/>
              </a:rPr>
              <a:t>printf("%d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",root-</a:t>
            </a:r>
            <a:r>
              <a:rPr sz="3000" spc="-10" dirty="0">
                <a:latin typeface="Calibri"/>
                <a:cs typeface="Calibri"/>
              </a:rPr>
              <a:t>&gt;data); </a:t>
            </a:r>
            <a:r>
              <a:rPr sz="3000" spc="-25" dirty="0">
                <a:latin typeface="Calibri"/>
                <a:cs typeface="Calibri"/>
              </a:rPr>
              <a:t>inorder(root-</a:t>
            </a:r>
            <a:r>
              <a:rPr sz="3000" spc="-10" dirty="0">
                <a:latin typeface="Calibri"/>
                <a:cs typeface="Calibri"/>
              </a:rPr>
              <a:t>&gt;right);</a:t>
            </a:r>
            <a:endParaRPr sz="3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3000" spc="-50" dirty="0">
                <a:latin typeface="Calibri"/>
                <a:cs typeface="Calibri"/>
              </a:rPr>
              <a:t>}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000" spc="-50" dirty="0">
                <a:latin typeface="Calibri"/>
                <a:cs typeface="Calibri"/>
              </a:rPr>
              <a:t>}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407795">
              <a:lnSpc>
                <a:spcPct val="100000"/>
              </a:lnSpc>
              <a:spcBef>
                <a:spcPts val="105"/>
              </a:spcBef>
            </a:pPr>
            <a:r>
              <a:rPr dirty="0"/>
              <a:t>C</a:t>
            </a:r>
            <a:r>
              <a:rPr spc="-10" dirty="0"/>
              <a:t> </a:t>
            </a:r>
            <a:r>
              <a:rPr dirty="0"/>
              <a:t>Code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BST</a:t>
            </a:r>
            <a:r>
              <a:rPr spc="-40" dirty="0"/>
              <a:t> </a:t>
            </a:r>
            <a:r>
              <a:rPr spc="-55" dirty="0"/>
              <a:t>Traversal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6794"/>
            <a:ext cx="4741545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void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postorder(node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*root)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000" spc="-50" dirty="0">
                <a:latin typeface="Calibri"/>
                <a:cs typeface="Calibri"/>
              </a:rPr>
              <a:t>{</a:t>
            </a:r>
            <a:endParaRPr sz="3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3000" spc="-10" dirty="0">
                <a:latin typeface="Calibri"/>
                <a:cs typeface="Calibri"/>
              </a:rPr>
              <a:t>if(root!=NULL)</a:t>
            </a:r>
            <a:endParaRPr sz="3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3000" spc="-50" dirty="0">
                <a:latin typeface="Calibri"/>
                <a:cs typeface="Calibri"/>
              </a:rPr>
              <a:t>{</a:t>
            </a:r>
            <a:endParaRPr sz="3000">
              <a:latin typeface="Calibri"/>
              <a:cs typeface="Calibri"/>
            </a:endParaRPr>
          </a:p>
          <a:p>
            <a:pPr marL="927100" marR="5080">
              <a:lnSpc>
                <a:spcPct val="100000"/>
              </a:lnSpc>
            </a:pPr>
            <a:r>
              <a:rPr sz="3000" spc="-30" dirty="0">
                <a:latin typeface="Calibri"/>
                <a:cs typeface="Calibri"/>
              </a:rPr>
              <a:t>postorder(root-</a:t>
            </a:r>
            <a:r>
              <a:rPr sz="3000" spc="-10" dirty="0">
                <a:latin typeface="Calibri"/>
                <a:cs typeface="Calibri"/>
              </a:rPr>
              <a:t>&gt;left); </a:t>
            </a:r>
            <a:r>
              <a:rPr sz="3000" spc="-30" dirty="0">
                <a:latin typeface="Calibri"/>
                <a:cs typeface="Calibri"/>
              </a:rPr>
              <a:t>postorder(root-</a:t>
            </a:r>
            <a:r>
              <a:rPr sz="3000" spc="-10" dirty="0">
                <a:latin typeface="Calibri"/>
                <a:cs typeface="Calibri"/>
              </a:rPr>
              <a:t>&gt;right); </a:t>
            </a:r>
            <a:r>
              <a:rPr sz="3000" dirty="0">
                <a:latin typeface="Calibri"/>
                <a:cs typeface="Calibri"/>
              </a:rPr>
              <a:t>printf("%d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",root-</a:t>
            </a:r>
            <a:r>
              <a:rPr sz="3000" spc="-10" dirty="0">
                <a:latin typeface="Calibri"/>
                <a:cs typeface="Calibri"/>
              </a:rPr>
              <a:t>&gt;data);</a:t>
            </a:r>
            <a:endParaRPr sz="3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3000" spc="-50" dirty="0">
                <a:latin typeface="Calibri"/>
                <a:cs typeface="Calibri"/>
              </a:rPr>
              <a:t>}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000" spc="-50" dirty="0">
                <a:latin typeface="Calibri"/>
                <a:cs typeface="Calibri"/>
              </a:rPr>
              <a:t>}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407795">
              <a:lnSpc>
                <a:spcPct val="100000"/>
              </a:lnSpc>
              <a:spcBef>
                <a:spcPts val="105"/>
              </a:spcBef>
            </a:pPr>
            <a:r>
              <a:rPr dirty="0"/>
              <a:t>C</a:t>
            </a:r>
            <a:r>
              <a:rPr spc="-10" dirty="0"/>
              <a:t> </a:t>
            </a:r>
            <a:r>
              <a:rPr dirty="0"/>
              <a:t>Code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BST</a:t>
            </a:r>
            <a:r>
              <a:rPr spc="-40" dirty="0"/>
              <a:t> </a:t>
            </a:r>
            <a:r>
              <a:rPr spc="-55" dirty="0"/>
              <a:t>Traversal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6794"/>
            <a:ext cx="4741545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void</a:t>
            </a:r>
            <a:r>
              <a:rPr sz="3000" spc="-1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preorder(node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*root)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000" spc="-50" dirty="0">
                <a:latin typeface="Calibri"/>
                <a:cs typeface="Calibri"/>
              </a:rPr>
              <a:t>{</a:t>
            </a:r>
            <a:endParaRPr sz="3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3000" spc="-10" dirty="0">
                <a:latin typeface="Calibri"/>
                <a:cs typeface="Calibri"/>
              </a:rPr>
              <a:t>if(root!=NULL)</a:t>
            </a:r>
            <a:endParaRPr sz="3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3000" spc="-50" dirty="0">
                <a:latin typeface="Calibri"/>
                <a:cs typeface="Calibri"/>
              </a:rPr>
              <a:t>{</a:t>
            </a:r>
            <a:endParaRPr sz="3000">
              <a:latin typeface="Calibri"/>
              <a:cs typeface="Calibri"/>
            </a:endParaRPr>
          </a:p>
          <a:p>
            <a:pPr marL="927100" marR="5080">
              <a:lnSpc>
                <a:spcPct val="100000"/>
              </a:lnSpc>
            </a:pPr>
            <a:r>
              <a:rPr sz="3000" dirty="0">
                <a:latin typeface="Calibri"/>
                <a:cs typeface="Calibri"/>
              </a:rPr>
              <a:t>printf("%d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",root-</a:t>
            </a:r>
            <a:r>
              <a:rPr sz="3000" spc="-10" dirty="0">
                <a:latin typeface="Calibri"/>
                <a:cs typeface="Calibri"/>
              </a:rPr>
              <a:t>&gt;data); </a:t>
            </a:r>
            <a:r>
              <a:rPr sz="3000" spc="-30" dirty="0">
                <a:latin typeface="Calibri"/>
                <a:cs typeface="Calibri"/>
              </a:rPr>
              <a:t>preorder(root-</a:t>
            </a:r>
            <a:r>
              <a:rPr sz="3000" spc="-10" dirty="0">
                <a:latin typeface="Calibri"/>
                <a:cs typeface="Calibri"/>
              </a:rPr>
              <a:t>&gt;left); </a:t>
            </a:r>
            <a:r>
              <a:rPr sz="3000" spc="-30" dirty="0">
                <a:latin typeface="Calibri"/>
                <a:cs typeface="Calibri"/>
              </a:rPr>
              <a:t>preorder(root-</a:t>
            </a:r>
            <a:r>
              <a:rPr sz="3000" spc="-10" dirty="0">
                <a:latin typeface="Calibri"/>
                <a:cs typeface="Calibri"/>
              </a:rPr>
              <a:t>&gt;right);</a:t>
            </a:r>
            <a:endParaRPr sz="3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3000" spc="-50" dirty="0">
                <a:latin typeface="Calibri"/>
                <a:cs typeface="Calibri"/>
              </a:rPr>
              <a:t>}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000" spc="-50" dirty="0">
                <a:latin typeface="Calibri"/>
                <a:cs typeface="Calibri"/>
              </a:rPr>
              <a:t>}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304609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3370"/>
            <a:ext cx="7976234" cy="437959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5080" indent="-342900">
              <a:lnSpc>
                <a:spcPct val="90000"/>
              </a:lnSpc>
              <a:spcBef>
                <a:spcPts val="459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Suppose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numbers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7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5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1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8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3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6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0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9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4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0" dirty="0">
                <a:latin typeface="Calibri"/>
                <a:cs typeface="Calibri"/>
              </a:rPr>
              <a:t>, </a:t>
            </a:r>
            <a:r>
              <a:rPr sz="3000" dirty="0">
                <a:latin typeface="Calibri"/>
                <a:cs typeface="Calibri"/>
              </a:rPr>
              <a:t>2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are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inserted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order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into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initially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empty </a:t>
            </a:r>
            <a:r>
              <a:rPr sz="3000" dirty="0">
                <a:latin typeface="Calibri"/>
                <a:cs typeface="Calibri"/>
              </a:rPr>
              <a:t>binary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search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tree.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binary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search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tree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uses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usual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ordering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natural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numbers.</a:t>
            </a:r>
            <a:endParaRPr sz="3000">
              <a:latin typeface="Calibri"/>
              <a:cs typeface="Calibri"/>
            </a:endParaRPr>
          </a:p>
          <a:p>
            <a:pPr marL="355600" marR="629920" indent="-342900">
              <a:lnSpc>
                <a:spcPts val="324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What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inorder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traversal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sequence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resultant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tree?</a:t>
            </a:r>
            <a:endParaRPr sz="30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295"/>
              </a:spcBef>
              <a:buAutoNum type="alphaUcPeriod"/>
              <a:tabLst>
                <a:tab pos="984885" algn="l"/>
              </a:tabLst>
            </a:pPr>
            <a:r>
              <a:rPr sz="2600" dirty="0">
                <a:latin typeface="Calibri"/>
                <a:cs typeface="Calibri"/>
              </a:rPr>
              <a:t>7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5 ,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 0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3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 4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6 ,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8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 </a:t>
            </a:r>
            <a:r>
              <a:rPr sz="2600" spc="-50" dirty="0">
                <a:latin typeface="Calibri"/>
                <a:cs typeface="Calibri"/>
              </a:rPr>
              <a:t>9</a:t>
            </a:r>
            <a:endParaRPr sz="26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315"/>
              </a:spcBef>
              <a:buAutoNum type="alphaUcPeriod"/>
              <a:tabLst>
                <a:tab pos="984885" algn="l"/>
              </a:tabLst>
            </a:pPr>
            <a:r>
              <a:rPr sz="2600" dirty="0">
                <a:latin typeface="Calibri"/>
                <a:cs typeface="Calibri"/>
              </a:rPr>
              <a:t>0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2 ,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4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 3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6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 5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9 ,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8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 </a:t>
            </a:r>
            <a:r>
              <a:rPr sz="2600" spc="-50" dirty="0">
                <a:latin typeface="Calibri"/>
                <a:cs typeface="Calibri"/>
              </a:rPr>
              <a:t>7</a:t>
            </a:r>
            <a:endParaRPr sz="26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310"/>
              </a:spcBef>
              <a:buAutoNum type="alphaUcPeriod"/>
              <a:tabLst>
                <a:tab pos="984885" algn="l"/>
              </a:tabLst>
            </a:pPr>
            <a:r>
              <a:rPr sz="2600" dirty="0">
                <a:latin typeface="Calibri"/>
                <a:cs typeface="Calibri"/>
              </a:rPr>
              <a:t>0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1 ,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 3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4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5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 6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7 ,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8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 </a:t>
            </a:r>
            <a:r>
              <a:rPr sz="2600" spc="-50" dirty="0">
                <a:latin typeface="Calibri"/>
                <a:cs typeface="Calibri"/>
              </a:rPr>
              <a:t>9</a:t>
            </a:r>
            <a:endParaRPr sz="26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315"/>
              </a:spcBef>
              <a:buAutoNum type="alphaUcPeriod"/>
              <a:tabLst>
                <a:tab pos="984885" algn="l"/>
              </a:tabLst>
            </a:pPr>
            <a:r>
              <a:rPr sz="2600" dirty="0">
                <a:latin typeface="Calibri"/>
                <a:cs typeface="Calibri"/>
              </a:rPr>
              <a:t>9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8 ,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6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 4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3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 0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1 ,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5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, </a:t>
            </a:r>
            <a:r>
              <a:rPr sz="2600" spc="-50" dirty="0">
                <a:latin typeface="Calibri"/>
                <a:cs typeface="Calibri"/>
              </a:rPr>
              <a:t>7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764155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Problem-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8797"/>
            <a:ext cx="7569200" cy="427799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5080" indent="-342900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preorder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traversal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sequence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binary </a:t>
            </a:r>
            <a:r>
              <a:rPr sz="3200" dirty="0">
                <a:latin typeface="Calibri"/>
                <a:cs typeface="Calibri"/>
              </a:rPr>
              <a:t>search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tree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is-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Calibri"/>
                <a:cs typeface="Calibri"/>
              </a:rPr>
              <a:t>30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20 ,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10 ,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15 ,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25 ,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23 ,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39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35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42</a:t>
            </a:r>
            <a:endParaRPr sz="2800">
              <a:latin typeface="Calibri"/>
              <a:cs typeface="Calibri"/>
            </a:endParaRPr>
          </a:p>
          <a:p>
            <a:pPr marL="355600" marR="37465" indent="-342900">
              <a:lnSpc>
                <a:spcPts val="3460"/>
              </a:lnSpc>
              <a:spcBef>
                <a:spcPts val="80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Which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following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postorder </a:t>
            </a:r>
            <a:r>
              <a:rPr sz="3200" spc="-20" dirty="0">
                <a:latin typeface="Calibri"/>
                <a:cs typeface="Calibri"/>
              </a:rPr>
              <a:t>traversal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sequence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same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tree?</a:t>
            </a:r>
            <a:endParaRPr sz="32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295"/>
              </a:spcBef>
              <a:buAutoNum type="alphaUcPeriod"/>
              <a:tabLst>
                <a:tab pos="984885" algn="l"/>
              </a:tabLst>
            </a:pPr>
            <a:r>
              <a:rPr sz="2800" dirty="0">
                <a:latin typeface="Calibri"/>
                <a:cs typeface="Calibri"/>
              </a:rPr>
              <a:t>10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20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15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23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25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35 ,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42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39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30</a:t>
            </a:r>
            <a:endParaRPr sz="28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340"/>
              </a:spcBef>
              <a:buAutoNum type="alphaUcPeriod"/>
              <a:tabLst>
                <a:tab pos="984885" algn="l"/>
              </a:tabLst>
            </a:pPr>
            <a:r>
              <a:rPr sz="2800" dirty="0">
                <a:latin typeface="Calibri"/>
                <a:cs typeface="Calibri"/>
              </a:rPr>
              <a:t>15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25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23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20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42 ,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35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39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30</a:t>
            </a:r>
            <a:endParaRPr sz="28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334"/>
              </a:spcBef>
              <a:buAutoNum type="alphaUcPeriod"/>
              <a:tabLst>
                <a:tab pos="984885" algn="l"/>
              </a:tabLst>
            </a:pPr>
            <a:r>
              <a:rPr sz="2800" dirty="0">
                <a:latin typeface="Calibri"/>
                <a:cs typeface="Calibri"/>
              </a:rPr>
              <a:t>15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20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23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25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42 ,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35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39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30</a:t>
            </a:r>
            <a:endParaRPr sz="28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335"/>
              </a:spcBef>
              <a:buAutoNum type="alphaUcPeriod"/>
              <a:tabLst>
                <a:tab pos="984885" algn="l"/>
              </a:tabLst>
            </a:pPr>
            <a:r>
              <a:rPr sz="2800" dirty="0">
                <a:latin typeface="Calibri"/>
                <a:cs typeface="Calibri"/>
              </a:rPr>
              <a:t>15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10 ,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23 ,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25 ,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20 ,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35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42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39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30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214245">
              <a:lnSpc>
                <a:spcPct val="100000"/>
              </a:lnSpc>
              <a:spcBef>
                <a:spcPts val="105"/>
              </a:spcBef>
            </a:pPr>
            <a:r>
              <a:rPr dirty="0"/>
              <a:t>BST</a:t>
            </a:r>
            <a:r>
              <a:rPr spc="-45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709422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Commonly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performed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binary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search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tree </a:t>
            </a:r>
            <a:r>
              <a:rPr sz="3200" dirty="0">
                <a:latin typeface="Calibri"/>
                <a:cs typeface="Calibri"/>
              </a:rPr>
              <a:t>operations</a:t>
            </a:r>
            <a:r>
              <a:rPr sz="3200" spc="-17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are: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89509" y="2980944"/>
            <a:ext cx="2722245" cy="508000"/>
            <a:chOff x="2889509" y="2980944"/>
            <a:chExt cx="2722245" cy="508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9509" y="2980944"/>
              <a:ext cx="2721853" cy="50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63468" y="2983992"/>
              <a:ext cx="1775460" cy="4297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8874" y="3000375"/>
              <a:ext cx="2643251" cy="4286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928874" y="3000375"/>
              <a:ext cx="2643505" cy="428625"/>
            </a:xfrm>
            <a:custGeom>
              <a:avLst/>
              <a:gdLst/>
              <a:ahLst/>
              <a:cxnLst/>
              <a:rect l="l" t="t" r="r" b="b"/>
              <a:pathLst>
                <a:path w="2643504" h="428625">
                  <a:moveTo>
                    <a:pt x="0" y="71374"/>
                  </a:moveTo>
                  <a:lnTo>
                    <a:pt x="5617" y="43612"/>
                  </a:lnTo>
                  <a:lnTo>
                    <a:pt x="20939" y="20923"/>
                  </a:lnTo>
                  <a:lnTo>
                    <a:pt x="43666" y="5615"/>
                  </a:lnTo>
                  <a:lnTo>
                    <a:pt x="71500" y="0"/>
                  </a:lnTo>
                  <a:lnTo>
                    <a:pt x="2571877" y="0"/>
                  </a:lnTo>
                  <a:lnTo>
                    <a:pt x="2599638" y="5615"/>
                  </a:lnTo>
                  <a:lnTo>
                    <a:pt x="2622327" y="20923"/>
                  </a:lnTo>
                  <a:lnTo>
                    <a:pt x="2637635" y="43612"/>
                  </a:lnTo>
                  <a:lnTo>
                    <a:pt x="2643251" y="71374"/>
                  </a:lnTo>
                  <a:lnTo>
                    <a:pt x="2643251" y="357124"/>
                  </a:lnTo>
                  <a:lnTo>
                    <a:pt x="2637635" y="384958"/>
                  </a:lnTo>
                  <a:lnTo>
                    <a:pt x="2622327" y="407685"/>
                  </a:lnTo>
                  <a:lnTo>
                    <a:pt x="2599638" y="423007"/>
                  </a:lnTo>
                  <a:lnTo>
                    <a:pt x="2571877" y="428625"/>
                  </a:lnTo>
                  <a:lnTo>
                    <a:pt x="71500" y="428625"/>
                  </a:lnTo>
                  <a:lnTo>
                    <a:pt x="43666" y="423007"/>
                  </a:lnTo>
                  <a:lnTo>
                    <a:pt x="20939" y="407685"/>
                  </a:lnTo>
                  <a:lnTo>
                    <a:pt x="5617" y="384958"/>
                  </a:lnTo>
                  <a:lnTo>
                    <a:pt x="0" y="357124"/>
                  </a:lnTo>
                  <a:lnTo>
                    <a:pt x="0" y="71374"/>
                  </a:lnTo>
                  <a:close/>
                </a:path>
              </a:pathLst>
            </a:custGeom>
            <a:ln w="12700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530600" y="3050285"/>
            <a:ext cx="1440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Operations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61126" y="3909059"/>
            <a:ext cx="2508885" cy="581025"/>
            <a:chOff x="2961126" y="3909059"/>
            <a:chExt cx="2508885" cy="58102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61126" y="3909059"/>
              <a:ext cx="2508515" cy="5806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00374" y="3929125"/>
              <a:ext cx="2428875" cy="499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000374" y="3929125"/>
              <a:ext cx="2428875" cy="500380"/>
            </a:xfrm>
            <a:custGeom>
              <a:avLst/>
              <a:gdLst/>
              <a:ahLst/>
              <a:cxnLst/>
              <a:rect l="l" t="t" r="r" b="b"/>
              <a:pathLst>
                <a:path w="2428875" h="500379">
                  <a:moveTo>
                    <a:pt x="0" y="83312"/>
                  </a:moveTo>
                  <a:lnTo>
                    <a:pt x="6552" y="50845"/>
                  </a:lnTo>
                  <a:lnTo>
                    <a:pt x="24415" y="24368"/>
                  </a:lnTo>
                  <a:lnTo>
                    <a:pt x="50899" y="6534"/>
                  </a:lnTo>
                  <a:lnTo>
                    <a:pt x="83312" y="0"/>
                  </a:lnTo>
                  <a:lnTo>
                    <a:pt x="2345563" y="0"/>
                  </a:lnTo>
                  <a:lnTo>
                    <a:pt x="2377975" y="6534"/>
                  </a:lnTo>
                  <a:lnTo>
                    <a:pt x="2404459" y="24368"/>
                  </a:lnTo>
                  <a:lnTo>
                    <a:pt x="2422322" y="50845"/>
                  </a:lnTo>
                  <a:lnTo>
                    <a:pt x="2428875" y="83312"/>
                  </a:lnTo>
                  <a:lnTo>
                    <a:pt x="2428875" y="416687"/>
                  </a:lnTo>
                  <a:lnTo>
                    <a:pt x="2422322" y="449099"/>
                  </a:lnTo>
                  <a:lnTo>
                    <a:pt x="2404459" y="475583"/>
                  </a:lnTo>
                  <a:lnTo>
                    <a:pt x="2377975" y="493446"/>
                  </a:lnTo>
                  <a:lnTo>
                    <a:pt x="2345563" y="499999"/>
                  </a:lnTo>
                  <a:lnTo>
                    <a:pt x="83312" y="499999"/>
                  </a:lnTo>
                  <a:lnTo>
                    <a:pt x="50899" y="493446"/>
                  </a:lnTo>
                  <a:lnTo>
                    <a:pt x="24415" y="475583"/>
                  </a:lnTo>
                  <a:lnTo>
                    <a:pt x="6552" y="449099"/>
                  </a:lnTo>
                  <a:lnTo>
                    <a:pt x="0" y="416687"/>
                  </a:lnTo>
                  <a:lnTo>
                    <a:pt x="0" y="83312"/>
                  </a:lnTo>
                  <a:close/>
                </a:path>
              </a:pathLst>
            </a:custGeom>
            <a:ln w="12700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293109" y="4014978"/>
            <a:ext cx="1843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Insertion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Operation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532125" y="3909059"/>
            <a:ext cx="2365375" cy="581025"/>
            <a:chOff x="5532125" y="3909059"/>
            <a:chExt cx="2365375" cy="581025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32125" y="3909059"/>
              <a:ext cx="2365236" cy="58064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72125" y="3929125"/>
              <a:ext cx="2286000" cy="4999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572125" y="3929125"/>
              <a:ext cx="2286000" cy="500380"/>
            </a:xfrm>
            <a:custGeom>
              <a:avLst/>
              <a:gdLst/>
              <a:ahLst/>
              <a:cxnLst/>
              <a:rect l="l" t="t" r="r" b="b"/>
              <a:pathLst>
                <a:path w="2286000" h="500379">
                  <a:moveTo>
                    <a:pt x="0" y="83312"/>
                  </a:moveTo>
                  <a:lnTo>
                    <a:pt x="6552" y="50845"/>
                  </a:lnTo>
                  <a:lnTo>
                    <a:pt x="24415" y="24368"/>
                  </a:lnTo>
                  <a:lnTo>
                    <a:pt x="50899" y="6534"/>
                  </a:lnTo>
                  <a:lnTo>
                    <a:pt x="83312" y="0"/>
                  </a:lnTo>
                  <a:lnTo>
                    <a:pt x="2202688" y="0"/>
                  </a:lnTo>
                  <a:lnTo>
                    <a:pt x="2235100" y="6534"/>
                  </a:lnTo>
                  <a:lnTo>
                    <a:pt x="2261584" y="24368"/>
                  </a:lnTo>
                  <a:lnTo>
                    <a:pt x="2279447" y="50845"/>
                  </a:lnTo>
                  <a:lnTo>
                    <a:pt x="2286000" y="83312"/>
                  </a:lnTo>
                  <a:lnTo>
                    <a:pt x="2286000" y="416687"/>
                  </a:lnTo>
                  <a:lnTo>
                    <a:pt x="2279447" y="449099"/>
                  </a:lnTo>
                  <a:lnTo>
                    <a:pt x="2261584" y="475583"/>
                  </a:lnTo>
                  <a:lnTo>
                    <a:pt x="2235100" y="493446"/>
                  </a:lnTo>
                  <a:lnTo>
                    <a:pt x="2202688" y="499999"/>
                  </a:lnTo>
                  <a:lnTo>
                    <a:pt x="83312" y="499999"/>
                  </a:lnTo>
                  <a:lnTo>
                    <a:pt x="50899" y="493446"/>
                  </a:lnTo>
                  <a:lnTo>
                    <a:pt x="24415" y="475583"/>
                  </a:lnTo>
                  <a:lnTo>
                    <a:pt x="6552" y="449099"/>
                  </a:lnTo>
                  <a:lnTo>
                    <a:pt x="0" y="416687"/>
                  </a:lnTo>
                  <a:lnTo>
                    <a:pt x="0" y="83312"/>
                  </a:lnTo>
                  <a:close/>
                </a:path>
              </a:pathLst>
            </a:custGeom>
            <a:ln w="12700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813552" y="4014978"/>
            <a:ext cx="1805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Deletion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Operation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45229" y="3909059"/>
            <a:ext cx="2152015" cy="581025"/>
            <a:chOff x="745229" y="3909059"/>
            <a:chExt cx="2152015" cy="581025"/>
          </a:xfrm>
        </p:grpSpPr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5229" y="3909059"/>
              <a:ext cx="2151900" cy="58064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5787" y="3929125"/>
              <a:ext cx="2071712" cy="4999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85787" y="3929125"/>
              <a:ext cx="2072005" cy="500380"/>
            </a:xfrm>
            <a:custGeom>
              <a:avLst/>
              <a:gdLst/>
              <a:ahLst/>
              <a:cxnLst/>
              <a:rect l="l" t="t" r="r" b="b"/>
              <a:pathLst>
                <a:path w="2072005" h="500379">
                  <a:moveTo>
                    <a:pt x="0" y="83312"/>
                  </a:moveTo>
                  <a:lnTo>
                    <a:pt x="6549" y="50845"/>
                  </a:lnTo>
                  <a:lnTo>
                    <a:pt x="24410" y="24368"/>
                  </a:lnTo>
                  <a:lnTo>
                    <a:pt x="50904" y="6534"/>
                  </a:lnTo>
                  <a:lnTo>
                    <a:pt x="83350" y="0"/>
                  </a:lnTo>
                  <a:lnTo>
                    <a:pt x="1988400" y="0"/>
                  </a:lnTo>
                  <a:lnTo>
                    <a:pt x="2020813" y="6534"/>
                  </a:lnTo>
                  <a:lnTo>
                    <a:pt x="2047297" y="24368"/>
                  </a:lnTo>
                  <a:lnTo>
                    <a:pt x="2065160" y="50845"/>
                  </a:lnTo>
                  <a:lnTo>
                    <a:pt x="2071712" y="83312"/>
                  </a:lnTo>
                  <a:lnTo>
                    <a:pt x="2071712" y="416687"/>
                  </a:lnTo>
                  <a:lnTo>
                    <a:pt x="2065160" y="449099"/>
                  </a:lnTo>
                  <a:lnTo>
                    <a:pt x="2047297" y="475583"/>
                  </a:lnTo>
                  <a:lnTo>
                    <a:pt x="2020813" y="493446"/>
                  </a:lnTo>
                  <a:lnTo>
                    <a:pt x="1988400" y="499999"/>
                  </a:lnTo>
                  <a:lnTo>
                    <a:pt x="83350" y="499999"/>
                  </a:lnTo>
                  <a:lnTo>
                    <a:pt x="50904" y="493446"/>
                  </a:lnTo>
                  <a:lnTo>
                    <a:pt x="24410" y="475583"/>
                  </a:lnTo>
                  <a:lnTo>
                    <a:pt x="6549" y="449099"/>
                  </a:lnTo>
                  <a:lnTo>
                    <a:pt x="0" y="416687"/>
                  </a:lnTo>
                  <a:lnTo>
                    <a:pt x="0" y="83312"/>
                  </a:lnTo>
                  <a:close/>
                </a:path>
              </a:pathLst>
            </a:custGeom>
            <a:ln w="12700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003198" y="4014978"/>
            <a:ext cx="1636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Search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Operation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663445" y="3500501"/>
            <a:ext cx="4960620" cy="429895"/>
            <a:chOff x="1663445" y="3500501"/>
            <a:chExt cx="4960620" cy="429895"/>
          </a:xfrm>
        </p:grpSpPr>
        <p:sp>
          <p:nvSpPr>
            <p:cNvPr id="26" name="object 26"/>
            <p:cNvSpPr/>
            <p:nvPr/>
          </p:nvSpPr>
          <p:spPr>
            <a:xfrm>
              <a:off x="1714499" y="3714750"/>
              <a:ext cx="4857750" cy="1905"/>
            </a:xfrm>
            <a:custGeom>
              <a:avLst/>
              <a:gdLst/>
              <a:ahLst/>
              <a:cxnLst/>
              <a:rect l="l" t="t" r="r" b="b"/>
              <a:pathLst>
                <a:path w="4857750" h="1904">
                  <a:moveTo>
                    <a:pt x="0" y="0"/>
                  </a:moveTo>
                  <a:lnTo>
                    <a:pt x="4857750" y="1650"/>
                  </a:lnTo>
                </a:path>
              </a:pathLst>
            </a:custGeom>
            <a:ln w="12700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20433" y="3715639"/>
              <a:ext cx="103377" cy="21424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235195" y="3714750"/>
              <a:ext cx="103505" cy="214629"/>
            </a:xfrm>
            <a:custGeom>
              <a:avLst/>
              <a:gdLst/>
              <a:ahLst/>
              <a:cxnLst/>
              <a:rect l="l" t="t" r="r" b="b"/>
              <a:pathLst>
                <a:path w="103504" h="214629">
                  <a:moveTo>
                    <a:pt x="7112" y="117982"/>
                  </a:moveTo>
                  <a:lnTo>
                    <a:pt x="4063" y="119761"/>
                  </a:lnTo>
                  <a:lnTo>
                    <a:pt x="1015" y="121412"/>
                  </a:lnTo>
                  <a:lnTo>
                    <a:pt x="0" y="125349"/>
                  </a:lnTo>
                  <a:lnTo>
                    <a:pt x="1777" y="128397"/>
                  </a:lnTo>
                  <a:lnTo>
                    <a:pt x="51053" y="214375"/>
                  </a:lnTo>
                  <a:lnTo>
                    <a:pt x="58511" y="201802"/>
                  </a:lnTo>
                  <a:lnTo>
                    <a:pt x="44830" y="201802"/>
                  </a:lnTo>
                  <a:lnTo>
                    <a:pt x="44917" y="189189"/>
                  </a:lnTo>
                  <a:lnTo>
                    <a:pt x="44992" y="178308"/>
                  </a:lnTo>
                  <a:lnTo>
                    <a:pt x="12899" y="122174"/>
                  </a:lnTo>
                  <a:lnTo>
                    <a:pt x="11049" y="118999"/>
                  </a:lnTo>
                  <a:lnTo>
                    <a:pt x="7112" y="117982"/>
                  </a:lnTo>
                  <a:close/>
                </a:path>
                <a:path w="103504" h="214629">
                  <a:moveTo>
                    <a:pt x="45016" y="178308"/>
                  </a:moveTo>
                  <a:lnTo>
                    <a:pt x="44917" y="189189"/>
                  </a:lnTo>
                  <a:lnTo>
                    <a:pt x="44830" y="201802"/>
                  </a:lnTo>
                  <a:lnTo>
                    <a:pt x="57530" y="201802"/>
                  </a:lnTo>
                  <a:lnTo>
                    <a:pt x="57552" y="198627"/>
                  </a:lnTo>
                  <a:lnTo>
                    <a:pt x="45644" y="198627"/>
                  </a:lnTo>
                  <a:lnTo>
                    <a:pt x="51241" y="189189"/>
                  </a:lnTo>
                  <a:lnTo>
                    <a:pt x="45016" y="178308"/>
                  </a:lnTo>
                  <a:close/>
                </a:path>
                <a:path w="103504" h="214629">
                  <a:moveTo>
                    <a:pt x="96392" y="118618"/>
                  </a:moveTo>
                  <a:lnTo>
                    <a:pt x="92455" y="119633"/>
                  </a:lnTo>
                  <a:lnTo>
                    <a:pt x="90677" y="122681"/>
                  </a:lnTo>
                  <a:lnTo>
                    <a:pt x="57693" y="178308"/>
                  </a:lnTo>
                  <a:lnTo>
                    <a:pt x="57618" y="189189"/>
                  </a:lnTo>
                  <a:lnTo>
                    <a:pt x="57530" y="201802"/>
                  </a:lnTo>
                  <a:lnTo>
                    <a:pt x="58511" y="201802"/>
                  </a:lnTo>
                  <a:lnTo>
                    <a:pt x="101600" y="129158"/>
                  </a:lnTo>
                  <a:lnTo>
                    <a:pt x="103377" y="126111"/>
                  </a:lnTo>
                  <a:lnTo>
                    <a:pt x="102362" y="122174"/>
                  </a:lnTo>
                  <a:lnTo>
                    <a:pt x="99440" y="120395"/>
                  </a:lnTo>
                  <a:lnTo>
                    <a:pt x="96392" y="118618"/>
                  </a:lnTo>
                  <a:close/>
                </a:path>
                <a:path w="103504" h="214629">
                  <a:moveTo>
                    <a:pt x="51241" y="189189"/>
                  </a:moveTo>
                  <a:lnTo>
                    <a:pt x="45644" y="198627"/>
                  </a:lnTo>
                  <a:lnTo>
                    <a:pt x="56641" y="198627"/>
                  </a:lnTo>
                  <a:lnTo>
                    <a:pt x="51241" y="189189"/>
                  </a:lnTo>
                  <a:close/>
                </a:path>
                <a:path w="103504" h="214629">
                  <a:moveTo>
                    <a:pt x="57693" y="178308"/>
                  </a:moveTo>
                  <a:lnTo>
                    <a:pt x="51241" y="189189"/>
                  </a:lnTo>
                  <a:lnTo>
                    <a:pt x="56641" y="198627"/>
                  </a:lnTo>
                  <a:lnTo>
                    <a:pt x="57552" y="198627"/>
                  </a:lnTo>
                  <a:lnTo>
                    <a:pt x="57618" y="189189"/>
                  </a:lnTo>
                  <a:lnTo>
                    <a:pt x="57693" y="178308"/>
                  </a:lnTo>
                  <a:close/>
                </a:path>
                <a:path w="103504" h="214629">
                  <a:moveTo>
                    <a:pt x="58927" y="0"/>
                  </a:moveTo>
                  <a:lnTo>
                    <a:pt x="46227" y="0"/>
                  </a:lnTo>
                  <a:lnTo>
                    <a:pt x="45410" y="117982"/>
                  </a:lnTo>
                  <a:lnTo>
                    <a:pt x="45016" y="178308"/>
                  </a:lnTo>
                  <a:lnTo>
                    <a:pt x="51241" y="189189"/>
                  </a:lnTo>
                  <a:lnTo>
                    <a:pt x="57693" y="178308"/>
                  </a:lnTo>
                  <a:lnTo>
                    <a:pt x="58927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63445" y="3714750"/>
              <a:ext cx="103378" cy="21437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235195" y="3500501"/>
              <a:ext cx="103505" cy="214629"/>
            </a:xfrm>
            <a:custGeom>
              <a:avLst/>
              <a:gdLst/>
              <a:ahLst/>
              <a:cxnLst/>
              <a:rect l="l" t="t" r="r" b="b"/>
              <a:pathLst>
                <a:path w="103504" h="214629">
                  <a:moveTo>
                    <a:pt x="7112" y="117856"/>
                  </a:moveTo>
                  <a:lnTo>
                    <a:pt x="1015" y="121412"/>
                  </a:lnTo>
                  <a:lnTo>
                    <a:pt x="0" y="125222"/>
                  </a:lnTo>
                  <a:lnTo>
                    <a:pt x="1777" y="128269"/>
                  </a:lnTo>
                  <a:lnTo>
                    <a:pt x="51053" y="214249"/>
                  </a:lnTo>
                  <a:lnTo>
                    <a:pt x="58511" y="201675"/>
                  </a:lnTo>
                  <a:lnTo>
                    <a:pt x="44830" y="201675"/>
                  </a:lnTo>
                  <a:lnTo>
                    <a:pt x="44918" y="189069"/>
                  </a:lnTo>
                  <a:lnTo>
                    <a:pt x="44993" y="178180"/>
                  </a:lnTo>
                  <a:lnTo>
                    <a:pt x="12899" y="122174"/>
                  </a:lnTo>
                  <a:lnTo>
                    <a:pt x="11049" y="118999"/>
                  </a:lnTo>
                  <a:lnTo>
                    <a:pt x="7112" y="117856"/>
                  </a:lnTo>
                  <a:close/>
                </a:path>
                <a:path w="103504" h="214629">
                  <a:moveTo>
                    <a:pt x="44996" y="178180"/>
                  </a:moveTo>
                  <a:lnTo>
                    <a:pt x="44918" y="189069"/>
                  </a:lnTo>
                  <a:lnTo>
                    <a:pt x="44830" y="201675"/>
                  </a:lnTo>
                  <a:lnTo>
                    <a:pt x="57530" y="201675"/>
                  </a:lnTo>
                  <a:lnTo>
                    <a:pt x="57552" y="198500"/>
                  </a:lnTo>
                  <a:lnTo>
                    <a:pt x="45644" y="198500"/>
                  </a:lnTo>
                  <a:lnTo>
                    <a:pt x="51237" y="189069"/>
                  </a:lnTo>
                  <a:lnTo>
                    <a:pt x="44996" y="178180"/>
                  </a:lnTo>
                  <a:close/>
                </a:path>
                <a:path w="103504" h="214629">
                  <a:moveTo>
                    <a:pt x="96392" y="118618"/>
                  </a:moveTo>
                  <a:lnTo>
                    <a:pt x="92455" y="119506"/>
                  </a:lnTo>
                  <a:lnTo>
                    <a:pt x="90677" y="122555"/>
                  </a:lnTo>
                  <a:lnTo>
                    <a:pt x="57693" y="178180"/>
                  </a:lnTo>
                  <a:lnTo>
                    <a:pt x="57618" y="189069"/>
                  </a:lnTo>
                  <a:lnTo>
                    <a:pt x="57530" y="201675"/>
                  </a:lnTo>
                  <a:lnTo>
                    <a:pt x="58511" y="201675"/>
                  </a:lnTo>
                  <a:lnTo>
                    <a:pt x="101600" y="129031"/>
                  </a:lnTo>
                  <a:lnTo>
                    <a:pt x="103377" y="125984"/>
                  </a:lnTo>
                  <a:lnTo>
                    <a:pt x="102463" y="122555"/>
                  </a:lnTo>
                  <a:lnTo>
                    <a:pt x="102362" y="122174"/>
                  </a:lnTo>
                  <a:lnTo>
                    <a:pt x="99440" y="120396"/>
                  </a:lnTo>
                  <a:lnTo>
                    <a:pt x="96392" y="118618"/>
                  </a:lnTo>
                  <a:close/>
                </a:path>
                <a:path w="103504" h="214629">
                  <a:moveTo>
                    <a:pt x="51237" y="189069"/>
                  </a:moveTo>
                  <a:lnTo>
                    <a:pt x="45644" y="198500"/>
                  </a:lnTo>
                  <a:lnTo>
                    <a:pt x="56641" y="198500"/>
                  </a:lnTo>
                  <a:lnTo>
                    <a:pt x="51237" y="189069"/>
                  </a:lnTo>
                  <a:close/>
                </a:path>
                <a:path w="103504" h="214629">
                  <a:moveTo>
                    <a:pt x="57693" y="178180"/>
                  </a:moveTo>
                  <a:lnTo>
                    <a:pt x="51237" y="189069"/>
                  </a:lnTo>
                  <a:lnTo>
                    <a:pt x="56641" y="198500"/>
                  </a:lnTo>
                  <a:lnTo>
                    <a:pt x="57552" y="198500"/>
                  </a:lnTo>
                  <a:lnTo>
                    <a:pt x="57618" y="189069"/>
                  </a:lnTo>
                  <a:lnTo>
                    <a:pt x="57693" y="178180"/>
                  </a:lnTo>
                  <a:close/>
                </a:path>
                <a:path w="103504" h="214629">
                  <a:moveTo>
                    <a:pt x="58927" y="0"/>
                  </a:moveTo>
                  <a:lnTo>
                    <a:pt x="46227" y="0"/>
                  </a:lnTo>
                  <a:lnTo>
                    <a:pt x="44996" y="178180"/>
                  </a:lnTo>
                  <a:lnTo>
                    <a:pt x="51237" y="189069"/>
                  </a:lnTo>
                  <a:lnTo>
                    <a:pt x="57693" y="178180"/>
                  </a:lnTo>
                  <a:lnTo>
                    <a:pt x="58927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979295">
              <a:lnSpc>
                <a:spcPct val="100000"/>
              </a:lnSpc>
              <a:spcBef>
                <a:spcPts val="105"/>
              </a:spcBef>
            </a:pPr>
            <a:r>
              <a:rPr dirty="0"/>
              <a:t>Search</a:t>
            </a:r>
            <a:r>
              <a:rPr spc="-100" dirty="0"/>
              <a:t> </a:t>
            </a:r>
            <a:r>
              <a:rPr spc="-10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3370"/>
            <a:ext cx="7864475" cy="421513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621665" indent="-342900">
              <a:lnSpc>
                <a:spcPts val="3240"/>
              </a:lnSpc>
              <a:spcBef>
                <a:spcPts val="505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Search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Operation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performed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search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50" dirty="0">
                <a:latin typeface="Calibri"/>
                <a:cs typeface="Calibri"/>
              </a:rPr>
              <a:t>a </a:t>
            </a:r>
            <a:r>
              <a:rPr sz="3000" dirty="0">
                <a:latin typeface="Calibri"/>
                <a:cs typeface="Calibri"/>
              </a:rPr>
              <a:t>particular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element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Binary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Search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Tree.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For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searching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given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key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BST,</a:t>
            </a:r>
            <a:endParaRPr sz="3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4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Compare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key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value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root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node.</a:t>
            </a:r>
            <a:endParaRPr sz="2600">
              <a:latin typeface="Calibri"/>
              <a:cs typeface="Calibri"/>
            </a:endParaRPr>
          </a:p>
          <a:p>
            <a:pPr marL="756285" marR="5080" lvl="1" indent="-287020">
              <a:lnSpc>
                <a:spcPts val="2810"/>
              </a:lnSpc>
              <a:spcBef>
                <a:spcPts val="66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If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key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present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root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node,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return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dirty="0">
                <a:latin typeface="Calibri"/>
                <a:cs typeface="Calibri"/>
              </a:rPr>
              <a:t>root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node.</a:t>
            </a:r>
            <a:endParaRPr sz="2600">
              <a:latin typeface="Calibri"/>
              <a:cs typeface="Calibri"/>
            </a:endParaRPr>
          </a:p>
          <a:p>
            <a:pPr marL="756285" marR="355600" lvl="1" indent="-287020">
              <a:lnSpc>
                <a:spcPts val="2810"/>
              </a:lnSpc>
              <a:spcBef>
                <a:spcPts val="62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If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key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greater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root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value,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then </a:t>
            </a:r>
            <a:r>
              <a:rPr sz="2600" dirty="0">
                <a:latin typeface="Calibri"/>
                <a:cs typeface="Calibri"/>
              </a:rPr>
              <a:t>recur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root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node’s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right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subtree.</a:t>
            </a:r>
            <a:endParaRPr sz="2600">
              <a:latin typeface="Calibri"/>
              <a:cs typeface="Calibri"/>
            </a:endParaRPr>
          </a:p>
          <a:p>
            <a:pPr marL="756285" marR="344805" lvl="1" indent="-287020">
              <a:lnSpc>
                <a:spcPts val="2810"/>
              </a:lnSpc>
              <a:spcBef>
                <a:spcPts val="62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If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key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smaller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root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value,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then </a:t>
            </a:r>
            <a:r>
              <a:rPr sz="2600" dirty="0">
                <a:latin typeface="Calibri"/>
                <a:cs typeface="Calibri"/>
              </a:rPr>
              <a:t>recur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root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node’s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left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subtree.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037" y="1676400"/>
            <a:ext cx="5705475" cy="29813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5762" y="4862525"/>
            <a:ext cx="4124325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438150">
              <a:lnSpc>
                <a:spcPct val="100000"/>
              </a:lnSpc>
              <a:spcBef>
                <a:spcPts val="105"/>
              </a:spcBef>
            </a:pPr>
            <a:r>
              <a:rPr dirty="0"/>
              <a:t>C</a:t>
            </a:r>
            <a:r>
              <a:rPr spc="-25" dirty="0"/>
              <a:t> </a:t>
            </a:r>
            <a:r>
              <a:rPr dirty="0"/>
              <a:t>Code</a:t>
            </a:r>
            <a:r>
              <a:rPr spc="-3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dirty="0"/>
              <a:t>BST</a:t>
            </a:r>
            <a:r>
              <a:rPr spc="-55" dirty="0"/>
              <a:t> </a:t>
            </a:r>
            <a:r>
              <a:rPr dirty="0"/>
              <a:t>Search</a:t>
            </a:r>
            <a:r>
              <a:rPr spc="-25" dirty="0"/>
              <a:t> </a:t>
            </a:r>
            <a:r>
              <a:rPr spc="-10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6794"/>
            <a:ext cx="7549515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struct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node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*search(struct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node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*node,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int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key)</a:t>
            </a:r>
            <a:r>
              <a:rPr sz="3000" spc="-50" dirty="0">
                <a:latin typeface="Calibri"/>
                <a:cs typeface="Calibri"/>
              </a:rPr>
              <a:t> {</a:t>
            </a:r>
            <a:endParaRPr sz="3000">
              <a:latin typeface="Calibri"/>
              <a:cs typeface="Calibri"/>
            </a:endParaRPr>
          </a:p>
          <a:p>
            <a:pPr marL="182880" marR="2025014">
              <a:lnSpc>
                <a:spcPct val="100000"/>
              </a:lnSpc>
            </a:pPr>
            <a:r>
              <a:rPr sz="3000" dirty="0">
                <a:latin typeface="Calibri"/>
                <a:cs typeface="Calibri"/>
              </a:rPr>
              <a:t>//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Return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NULL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if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tree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empty </a:t>
            </a:r>
            <a:r>
              <a:rPr sz="3000" dirty="0">
                <a:latin typeface="Calibri"/>
                <a:cs typeface="Calibri"/>
              </a:rPr>
              <a:t>if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(node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==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NULL)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return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NULL;</a:t>
            </a:r>
            <a:endParaRPr sz="3000">
              <a:latin typeface="Calibri"/>
              <a:cs typeface="Calibri"/>
            </a:endParaRPr>
          </a:p>
          <a:p>
            <a:pPr marL="182880" marR="1114425">
              <a:lnSpc>
                <a:spcPct val="100000"/>
              </a:lnSpc>
            </a:pPr>
            <a:r>
              <a:rPr sz="3000" dirty="0">
                <a:latin typeface="Calibri"/>
                <a:cs typeface="Calibri"/>
              </a:rPr>
              <a:t>if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(node-</a:t>
            </a:r>
            <a:r>
              <a:rPr sz="3000" dirty="0">
                <a:latin typeface="Calibri"/>
                <a:cs typeface="Calibri"/>
              </a:rPr>
              <a:t>&gt;key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==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key)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return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node-</a:t>
            </a:r>
            <a:r>
              <a:rPr sz="3000" spc="-10" dirty="0">
                <a:latin typeface="Calibri"/>
                <a:cs typeface="Calibri"/>
              </a:rPr>
              <a:t>&gt;data; </a:t>
            </a:r>
            <a:r>
              <a:rPr sz="3000" dirty="0">
                <a:latin typeface="Calibri"/>
                <a:cs typeface="Calibri"/>
              </a:rPr>
              <a:t>if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(key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&lt;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node-</a:t>
            </a:r>
            <a:r>
              <a:rPr sz="3000" spc="-20" dirty="0">
                <a:latin typeface="Calibri"/>
                <a:cs typeface="Calibri"/>
              </a:rPr>
              <a:t>&gt;key)</a:t>
            </a:r>
            <a:endParaRPr sz="3000">
              <a:latin typeface="Calibri"/>
              <a:cs typeface="Calibri"/>
            </a:endParaRPr>
          </a:p>
          <a:p>
            <a:pPr marL="182880" marR="3529965" indent="172085">
              <a:lnSpc>
                <a:spcPct val="100000"/>
              </a:lnSpc>
              <a:spcBef>
                <a:spcPts val="5"/>
              </a:spcBef>
            </a:pPr>
            <a:r>
              <a:rPr sz="3000" spc="-10" dirty="0">
                <a:latin typeface="Calibri"/>
                <a:cs typeface="Calibri"/>
              </a:rPr>
              <a:t>search(node-</a:t>
            </a:r>
            <a:r>
              <a:rPr sz="3000" dirty="0">
                <a:latin typeface="Calibri"/>
                <a:cs typeface="Calibri"/>
              </a:rPr>
              <a:t>&gt;left,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key); </a:t>
            </a:r>
            <a:r>
              <a:rPr sz="3000" spc="-20" dirty="0">
                <a:latin typeface="Calibri"/>
                <a:cs typeface="Calibri"/>
              </a:rPr>
              <a:t>else</a:t>
            </a:r>
            <a:endParaRPr sz="3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3000" spc="-10" dirty="0">
                <a:latin typeface="Calibri"/>
                <a:cs typeface="Calibri"/>
              </a:rPr>
              <a:t>search(node-</a:t>
            </a:r>
            <a:r>
              <a:rPr sz="3000" dirty="0">
                <a:latin typeface="Calibri"/>
                <a:cs typeface="Calibri"/>
              </a:rPr>
              <a:t>&gt;right,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key);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000" spc="-50" dirty="0">
                <a:latin typeface="Calibri"/>
                <a:cs typeface="Calibri"/>
              </a:rPr>
              <a:t>}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759585">
              <a:lnSpc>
                <a:spcPct val="100000"/>
              </a:lnSpc>
              <a:spcBef>
                <a:spcPts val="105"/>
              </a:spcBef>
            </a:pPr>
            <a:r>
              <a:rPr dirty="0"/>
              <a:t>Insertion</a:t>
            </a:r>
            <a:r>
              <a:rPr spc="-35" dirty="0"/>
              <a:t> </a:t>
            </a:r>
            <a:r>
              <a:rPr spc="-10" dirty="0"/>
              <a:t>operation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530" rIns="0" bIns="0" rtlCol="0">
            <a:spAutoFit/>
          </a:bodyPr>
          <a:lstStyle/>
          <a:p>
            <a:pPr marL="355600" marR="22352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/>
              <a:t>The</a:t>
            </a:r>
            <a:r>
              <a:rPr sz="3200" spc="-75" dirty="0"/>
              <a:t> </a:t>
            </a:r>
            <a:r>
              <a:rPr sz="3200" dirty="0"/>
              <a:t>insertion</a:t>
            </a:r>
            <a:r>
              <a:rPr sz="3200" spc="-60" dirty="0"/>
              <a:t> </a:t>
            </a:r>
            <a:r>
              <a:rPr sz="3200" dirty="0"/>
              <a:t>of</a:t>
            </a:r>
            <a:r>
              <a:rPr sz="3200" spc="-75" dirty="0"/>
              <a:t> </a:t>
            </a:r>
            <a:r>
              <a:rPr sz="3200" dirty="0"/>
              <a:t>a</a:t>
            </a:r>
            <a:r>
              <a:rPr sz="3200" spc="-70" dirty="0"/>
              <a:t> </a:t>
            </a:r>
            <a:r>
              <a:rPr sz="3200" dirty="0"/>
              <a:t>new</a:t>
            </a:r>
            <a:r>
              <a:rPr sz="3200" spc="-70" dirty="0"/>
              <a:t> </a:t>
            </a:r>
            <a:r>
              <a:rPr sz="3200" dirty="0"/>
              <a:t>key</a:t>
            </a:r>
            <a:r>
              <a:rPr sz="3200" spc="-70" dirty="0"/>
              <a:t> </a:t>
            </a:r>
            <a:r>
              <a:rPr sz="3200" spc="-10" dirty="0"/>
              <a:t>always</a:t>
            </a:r>
            <a:r>
              <a:rPr sz="3200" spc="-75" dirty="0"/>
              <a:t> </a:t>
            </a:r>
            <a:r>
              <a:rPr sz="3200" spc="-10" dirty="0"/>
              <a:t>takes</a:t>
            </a:r>
            <a:r>
              <a:rPr sz="3200" spc="-70" dirty="0"/>
              <a:t> </a:t>
            </a:r>
            <a:r>
              <a:rPr sz="3200" spc="-10" dirty="0"/>
              <a:t>place </a:t>
            </a:r>
            <a:r>
              <a:rPr sz="3200" dirty="0"/>
              <a:t>as</a:t>
            </a:r>
            <a:r>
              <a:rPr sz="3200" spc="-40" dirty="0"/>
              <a:t> </a:t>
            </a:r>
            <a:r>
              <a:rPr sz="3200" dirty="0"/>
              <a:t>the</a:t>
            </a:r>
            <a:r>
              <a:rPr sz="3200" spc="-35" dirty="0"/>
              <a:t> </a:t>
            </a:r>
            <a:r>
              <a:rPr sz="3200" dirty="0"/>
              <a:t>child</a:t>
            </a:r>
            <a:r>
              <a:rPr sz="3200" spc="-20" dirty="0"/>
              <a:t> </a:t>
            </a:r>
            <a:r>
              <a:rPr sz="3200" dirty="0"/>
              <a:t>of</a:t>
            </a:r>
            <a:r>
              <a:rPr sz="3200" spc="-30" dirty="0"/>
              <a:t> </a:t>
            </a:r>
            <a:r>
              <a:rPr sz="3200" dirty="0"/>
              <a:t>some</a:t>
            </a:r>
            <a:r>
              <a:rPr sz="3200" spc="-25" dirty="0"/>
              <a:t> </a:t>
            </a:r>
            <a:r>
              <a:rPr sz="3200" dirty="0"/>
              <a:t>leaf</a:t>
            </a:r>
            <a:r>
              <a:rPr sz="3200" spc="-25" dirty="0"/>
              <a:t> </a:t>
            </a:r>
            <a:r>
              <a:rPr sz="3200" spc="-10" dirty="0"/>
              <a:t>node.</a:t>
            </a:r>
            <a:endParaRPr sz="3200"/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/>
              <a:t>For</a:t>
            </a:r>
            <a:r>
              <a:rPr sz="3200" spc="-80" dirty="0"/>
              <a:t> </a:t>
            </a:r>
            <a:r>
              <a:rPr sz="3200" dirty="0"/>
              <a:t>finding</a:t>
            </a:r>
            <a:r>
              <a:rPr sz="3200" spc="-25" dirty="0"/>
              <a:t> </a:t>
            </a:r>
            <a:r>
              <a:rPr sz="3200" dirty="0"/>
              <a:t>out</a:t>
            </a:r>
            <a:r>
              <a:rPr sz="3200" spc="-70" dirty="0"/>
              <a:t> </a:t>
            </a:r>
            <a:r>
              <a:rPr sz="3200" dirty="0"/>
              <a:t>the</a:t>
            </a:r>
            <a:r>
              <a:rPr sz="3200" spc="-65" dirty="0"/>
              <a:t> </a:t>
            </a:r>
            <a:r>
              <a:rPr sz="3200" dirty="0"/>
              <a:t>suitable</a:t>
            </a:r>
            <a:r>
              <a:rPr sz="3200" spc="-55" dirty="0"/>
              <a:t> </a:t>
            </a:r>
            <a:r>
              <a:rPr sz="3200" dirty="0"/>
              <a:t>leaf</a:t>
            </a:r>
            <a:r>
              <a:rPr sz="3200" spc="-70" dirty="0"/>
              <a:t> </a:t>
            </a:r>
            <a:r>
              <a:rPr sz="3200" spc="-10" dirty="0"/>
              <a:t>node,</a:t>
            </a:r>
            <a:endParaRPr sz="3200"/>
          </a:p>
          <a:p>
            <a:pPr marL="756285" marR="226695" lvl="1" indent="-287020">
              <a:lnSpc>
                <a:spcPct val="100000"/>
              </a:lnSpc>
              <a:spcBef>
                <a:spcPts val="685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Search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inserted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root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node </a:t>
            </a:r>
            <a:r>
              <a:rPr sz="2800" dirty="0">
                <a:latin typeface="Calibri"/>
                <a:cs typeface="Calibri"/>
              </a:rPr>
              <a:t>till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node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reached.</a:t>
            </a:r>
            <a:endParaRPr sz="280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Once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reached,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insert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child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node.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4874" y="1776348"/>
            <a:ext cx="6105525" cy="2247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0374" y="4568837"/>
            <a:ext cx="4381500" cy="10922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662305">
              <a:lnSpc>
                <a:spcPct val="100000"/>
              </a:lnSpc>
              <a:spcBef>
                <a:spcPts val="105"/>
              </a:spcBef>
            </a:pPr>
            <a:r>
              <a:rPr dirty="0"/>
              <a:t>C</a:t>
            </a:r>
            <a:r>
              <a:rPr spc="-20" dirty="0"/>
              <a:t> </a:t>
            </a:r>
            <a:r>
              <a:rPr dirty="0"/>
              <a:t>Code</a:t>
            </a:r>
            <a:r>
              <a:rPr spc="-30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Insertion</a:t>
            </a:r>
            <a:r>
              <a:rPr spc="-10" dirty="0"/>
              <a:t> 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83182"/>
            <a:ext cx="4656455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//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Create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node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struct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*newNode(int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item)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{</a:t>
            </a:r>
            <a:endParaRPr sz="14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struct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node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*temp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=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(struct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*)malloc(sizeof(struct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node));</a:t>
            </a:r>
            <a:endParaRPr sz="14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</a:pPr>
            <a:r>
              <a:rPr sz="1400" spc="-20" dirty="0">
                <a:latin typeface="Calibri"/>
                <a:cs typeface="Calibri"/>
              </a:rPr>
              <a:t>temp-</a:t>
            </a:r>
            <a:r>
              <a:rPr sz="1400" spc="-10" dirty="0">
                <a:latin typeface="Calibri"/>
                <a:cs typeface="Calibri"/>
              </a:rPr>
              <a:t>&gt;key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=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item;</a:t>
            </a:r>
            <a:endParaRPr sz="1400">
              <a:latin typeface="Calibri"/>
              <a:cs typeface="Calibri"/>
            </a:endParaRPr>
          </a:p>
          <a:p>
            <a:pPr marL="90170" marR="2162175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temp-</a:t>
            </a:r>
            <a:r>
              <a:rPr sz="1400" dirty="0">
                <a:latin typeface="Calibri"/>
                <a:cs typeface="Calibri"/>
              </a:rPr>
              <a:t>&gt;left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=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temp-</a:t>
            </a:r>
            <a:r>
              <a:rPr sz="1400" dirty="0">
                <a:latin typeface="Calibri"/>
                <a:cs typeface="Calibri"/>
              </a:rPr>
              <a:t>&gt;right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=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NULL; </a:t>
            </a:r>
            <a:r>
              <a:rPr sz="1400" dirty="0">
                <a:latin typeface="Calibri"/>
                <a:cs typeface="Calibri"/>
              </a:rPr>
              <a:t>return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temp;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Calibri"/>
                <a:cs typeface="Calibri"/>
              </a:rPr>
              <a:t>}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//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Insert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node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struct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node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*insert(struct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node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*node,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key)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{</a:t>
            </a:r>
            <a:endParaRPr sz="1400">
              <a:latin typeface="Calibri"/>
              <a:cs typeface="Calibri"/>
            </a:endParaRPr>
          </a:p>
          <a:p>
            <a:pPr marL="90170" marR="159893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//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Return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new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tree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20" dirty="0">
                <a:latin typeface="Calibri"/>
                <a:cs typeface="Calibri"/>
              </a:rPr>
              <a:t> empty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(node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==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NULL)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return</a:t>
            </a:r>
            <a:r>
              <a:rPr sz="1400" spc="-10" dirty="0">
                <a:latin typeface="Calibri"/>
                <a:cs typeface="Calibri"/>
              </a:rPr>
              <a:t> newNode(key);</a:t>
            </a:r>
            <a:endParaRPr sz="1400">
              <a:latin typeface="Calibri"/>
              <a:cs typeface="Calibri"/>
            </a:endParaRPr>
          </a:p>
          <a:p>
            <a:pPr marL="90170" marR="1041400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latin typeface="Calibri"/>
                <a:cs typeface="Calibri"/>
              </a:rPr>
              <a:t>//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Traverse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right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place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insert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node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10" dirty="0">
                <a:latin typeface="Calibri"/>
                <a:cs typeface="Calibri"/>
              </a:rPr>
              <a:t> (key</a:t>
            </a:r>
            <a:r>
              <a:rPr sz="1400" dirty="0">
                <a:latin typeface="Calibri"/>
                <a:cs typeface="Calibri"/>
              </a:rPr>
              <a:t> &lt;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node-</a:t>
            </a:r>
            <a:r>
              <a:rPr sz="1400" spc="-20" dirty="0">
                <a:latin typeface="Calibri"/>
                <a:cs typeface="Calibri"/>
              </a:rPr>
              <a:t>&gt;key)</a:t>
            </a:r>
            <a:endParaRPr sz="1400">
              <a:latin typeface="Calibri"/>
              <a:cs typeface="Calibri"/>
            </a:endParaRPr>
          </a:p>
          <a:p>
            <a:pPr marL="90170" marR="1900555" indent="7874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node-</a:t>
            </a:r>
            <a:r>
              <a:rPr sz="1400" dirty="0">
                <a:latin typeface="Calibri"/>
                <a:cs typeface="Calibri"/>
              </a:rPr>
              <a:t>&gt;left =</a:t>
            </a:r>
            <a:r>
              <a:rPr sz="1400" spc="-10" dirty="0">
                <a:latin typeface="Calibri"/>
                <a:cs typeface="Calibri"/>
              </a:rPr>
              <a:t> insert(node-</a:t>
            </a:r>
            <a:r>
              <a:rPr sz="1400" dirty="0">
                <a:latin typeface="Calibri"/>
                <a:cs typeface="Calibri"/>
              </a:rPr>
              <a:t>&gt;left,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key); else</a:t>
            </a:r>
            <a:endParaRPr sz="1400">
              <a:latin typeface="Calibri"/>
              <a:cs typeface="Calibri"/>
            </a:endParaRPr>
          </a:p>
          <a:p>
            <a:pPr marL="169545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node-</a:t>
            </a:r>
            <a:r>
              <a:rPr sz="1400" dirty="0">
                <a:latin typeface="Calibri"/>
                <a:cs typeface="Calibri"/>
              </a:rPr>
              <a:t>&gt;right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=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insert(node-</a:t>
            </a:r>
            <a:r>
              <a:rPr sz="1400" dirty="0">
                <a:latin typeface="Calibri"/>
                <a:cs typeface="Calibri"/>
              </a:rPr>
              <a:t>&gt;right,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key);</a:t>
            </a:r>
            <a:endParaRPr sz="14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  <a:spcBef>
                <a:spcPts val="1685"/>
              </a:spcBef>
            </a:pPr>
            <a:r>
              <a:rPr sz="1400" dirty="0">
                <a:latin typeface="Calibri"/>
                <a:cs typeface="Calibri"/>
              </a:rPr>
              <a:t>return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node;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Calibri"/>
                <a:cs typeface="Calibri"/>
              </a:rPr>
              <a:t>}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773555">
              <a:lnSpc>
                <a:spcPct val="100000"/>
              </a:lnSpc>
              <a:spcBef>
                <a:spcPts val="105"/>
              </a:spcBef>
            </a:pPr>
            <a:r>
              <a:rPr dirty="0"/>
              <a:t>Deletion</a:t>
            </a:r>
            <a:r>
              <a:rPr spc="-55" dirty="0"/>
              <a:t> </a:t>
            </a:r>
            <a:r>
              <a:rPr spc="-10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7599680" cy="2562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Deletion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Operation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performed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delete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a </a:t>
            </a:r>
            <a:r>
              <a:rPr sz="3200" dirty="0">
                <a:latin typeface="Calibri"/>
                <a:cs typeface="Calibri"/>
              </a:rPr>
              <a:t>particular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element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Binary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Search Tree.</a:t>
            </a:r>
            <a:endParaRPr sz="3200">
              <a:latin typeface="Calibri"/>
              <a:cs typeface="Calibri"/>
            </a:endParaRPr>
          </a:p>
          <a:p>
            <a:pPr marL="355600" marR="3111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When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comes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deleting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node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binary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search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tree,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three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cases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possible.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19275" marR="5080" indent="-156718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Case-</a:t>
            </a:r>
            <a:r>
              <a:rPr sz="4000" dirty="0"/>
              <a:t>01:</a:t>
            </a:r>
            <a:r>
              <a:rPr sz="4000" spc="-55" dirty="0"/>
              <a:t> </a:t>
            </a:r>
            <a:r>
              <a:rPr sz="4000" dirty="0"/>
              <a:t>Deletion</a:t>
            </a:r>
            <a:r>
              <a:rPr sz="4000" spc="-45" dirty="0"/>
              <a:t> </a:t>
            </a:r>
            <a:r>
              <a:rPr sz="4000" dirty="0"/>
              <a:t>Of</a:t>
            </a:r>
            <a:r>
              <a:rPr sz="4000" spc="-30" dirty="0"/>
              <a:t> </a:t>
            </a:r>
            <a:r>
              <a:rPr sz="4000" dirty="0"/>
              <a:t>A</a:t>
            </a:r>
            <a:r>
              <a:rPr sz="4000" spc="-55" dirty="0"/>
              <a:t> </a:t>
            </a:r>
            <a:r>
              <a:rPr sz="4000" dirty="0"/>
              <a:t>Node</a:t>
            </a:r>
            <a:r>
              <a:rPr sz="4000" spc="-35" dirty="0"/>
              <a:t> </a:t>
            </a:r>
            <a:r>
              <a:rPr sz="4000" spc="-10" dirty="0"/>
              <a:t>Having </a:t>
            </a:r>
            <a:r>
              <a:rPr sz="4000" dirty="0"/>
              <a:t>No</a:t>
            </a:r>
            <a:r>
              <a:rPr sz="4000" spc="-65" dirty="0"/>
              <a:t> </a:t>
            </a:r>
            <a:r>
              <a:rPr sz="4000" dirty="0"/>
              <a:t>Child</a:t>
            </a:r>
            <a:r>
              <a:rPr sz="4000" spc="-65" dirty="0"/>
              <a:t> </a:t>
            </a:r>
            <a:r>
              <a:rPr sz="4000" dirty="0"/>
              <a:t>(Leaf</a:t>
            </a:r>
            <a:r>
              <a:rPr sz="4000" spc="-65" dirty="0"/>
              <a:t> </a:t>
            </a:r>
            <a:r>
              <a:rPr sz="4000" spc="-10" dirty="0"/>
              <a:t>Node)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788225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Just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remove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/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disconnect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leaf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node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is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deleted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tree.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925" y="3533775"/>
            <a:ext cx="5762625" cy="173355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6810" marR="5080" indent="-2164715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Case-</a:t>
            </a:r>
            <a:r>
              <a:rPr sz="4000" dirty="0"/>
              <a:t>02:</a:t>
            </a:r>
            <a:r>
              <a:rPr sz="4000" spc="-55" dirty="0"/>
              <a:t> </a:t>
            </a:r>
            <a:r>
              <a:rPr sz="4000" dirty="0"/>
              <a:t>Deletion</a:t>
            </a:r>
            <a:r>
              <a:rPr sz="4000" spc="-45" dirty="0"/>
              <a:t> </a:t>
            </a:r>
            <a:r>
              <a:rPr sz="4000" dirty="0"/>
              <a:t>Of</a:t>
            </a:r>
            <a:r>
              <a:rPr sz="4000" spc="-30" dirty="0"/>
              <a:t> </a:t>
            </a:r>
            <a:r>
              <a:rPr sz="4000" dirty="0"/>
              <a:t>A</a:t>
            </a:r>
            <a:r>
              <a:rPr sz="4000" spc="-55" dirty="0"/>
              <a:t> </a:t>
            </a:r>
            <a:r>
              <a:rPr sz="4000" dirty="0"/>
              <a:t>Node</a:t>
            </a:r>
            <a:r>
              <a:rPr sz="4000" spc="-35" dirty="0"/>
              <a:t> </a:t>
            </a:r>
            <a:r>
              <a:rPr sz="4000" spc="-10" dirty="0"/>
              <a:t>Having </a:t>
            </a:r>
            <a:r>
              <a:rPr sz="4000" dirty="0"/>
              <a:t>Only</a:t>
            </a:r>
            <a:r>
              <a:rPr sz="4000" spc="-75" dirty="0"/>
              <a:t> </a:t>
            </a:r>
            <a:r>
              <a:rPr sz="4000" dirty="0"/>
              <a:t>One</a:t>
            </a:r>
            <a:r>
              <a:rPr sz="4000" spc="-70" dirty="0"/>
              <a:t> </a:t>
            </a:r>
            <a:r>
              <a:rPr sz="4000" spc="-10" dirty="0"/>
              <a:t>Child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764095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Consider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following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example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where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node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value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30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deleted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BST.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9275" y="3614673"/>
            <a:ext cx="5410200" cy="172402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4135" marR="5080" indent="-235204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Case-</a:t>
            </a:r>
            <a:r>
              <a:rPr sz="4000" dirty="0"/>
              <a:t>03:</a:t>
            </a:r>
            <a:r>
              <a:rPr sz="4000" spc="-55" dirty="0"/>
              <a:t> </a:t>
            </a:r>
            <a:r>
              <a:rPr sz="4000" dirty="0"/>
              <a:t>Deletion</a:t>
            </a:r>
            <a:r>
              <a:rPr sz="4000" spc="-45" dirty="0"/>
              <a:t> </a:t>
            </a:r>
            <a:r>
              <a:rPr sz="4000" dirty="0"/>
              <a:t>Of</a:t>
            </a:r>
            <a:r>
              <a:rPr sz="4000" spc="-30" dirty="0"/>
              <a:t> </a:t>
            </a:r>
            <a:r>
              <a:rPr sz="4000" dirty="0"/>
              <a:t>A</a:t>
            </a:r>
            <a:r>
              <a:rPr sz="4000" spc="-55" dirty="0"/>
              <a:t> </a:t>
            </a:r>
            <a:r>
              <a:rPr sz="4000" dirty="0"/>
              <a:t>Node</a:t>
            </a:r>
            <a:r>
              <a:rPr sz="4000" spc="-35" dirty="0"/>
              <a:t> </a:t>
            </a:r>
            <a:r>
              <a:rPr sz="4000" spc="-10" dirty="0"/>
              <a:t>Having </a:t>
            </a:r>
            <a:r>
              <a:rPr sz="4000" spc="-40" dirty="0"/>
              <a:t>Two</a:t>
            </a:r>
            <a:r>
              <a:rPr sz="4000" spc="-170" dirty="0"/>
              <a:t> </a:t>
            </a:r>
            <a:r>
              <a:rPr sz="4000" spc="-10" dirty="0"/>
              <a:t>Children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10613"/>
            <a:ext cx="7803515" cy="2711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65125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Consider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following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example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with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15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deleted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BST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</a:tabLst>
            </a:pPr>
            <a:r>
              <a:rPr sz="2800" spc="-30" dirty="0">
                <a:latin typeface="Calibri"/>
                <a:cs typeface="Calibri"/>
              </a:rPr>
              <a:t>Method-</a:t>
            </a:r>
            <a:r>
              <a:rPr sz="2800" spc="-25" dirty="0">
                <a:latin typeface="Calibri"/>
                <a:cs typeface="Calibri"/>
              </a:rPr>
              <a:t>1: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05"/>
              </a:spcBef>
              <a:buFont typeface="Arial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Visit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subtree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deleting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node.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Pluck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inorder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successor.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Replace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deleting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inorder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successor.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750" y="4524375"/>
            <a:ext cx="638175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36549"/>
            <a:ext cx="6998970" cy="156972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20" dirty="0">
                <a:latin typeface="Calibri"/>
                <a:cs typeface="Calibri"/>
              </a:rPr>
              <a:t>Method-</a:t>
            </a:r>
            <a:r>
              <a:rPr sz="2400" spc="-25" dirty="0">
                <a:latin typeface="Calibri"/>
                <a:cs typeface="Calibri"/>
              </a:rPr>
              <a:t>2: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9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Visit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left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subtree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deleting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node.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Pluck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greatest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element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inorder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successor.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Replace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deleting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element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inorder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successor.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5875" y="3795712"/>
            <a:ext cx="6324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503680">
              <a:lnSpc>
                <a:spcPct val="100000"/>
              </a:lnSpc>
              <a:spcBef>
                <a:spcPts val="105"/>
              </a:spcBef>
            </a:pPr>
            <a:r>
              <a:rPr dirty="0"/>
              <a:t>C</a:t>
            </a:r>
            <a:r>
              <a:rPr spc="-20" dirty="0"/>
              <a:t> </a:t>
            </a:r>
            <a:r>
              <a:rPr dirty="0"/>
              <a:t>code</a:t>
            </a:r>
            <a:r>
              <a:rPr spc="-30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dirty="0"/>
              <a:t>BST</a:t>
            </a:r>
            <a:r>
              <a:rPr spc="-40" dirty="0"/>
              <a:t> </a:t>
            </a:r>
            <a:r>
              <a:rPr spc="-10" dirty="0"/>
              <a:t>deletion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4518"/>
            <a:ext cx="3721735" cy="4660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15773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latin typeface="Calibri"/>
                <a:cs typeface="Calibri"/>
              </a:rPr>
              <a:t>//Function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to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find</a:t>
            </a:r>
            <a:r>
              <a:rPr sz="800" spc="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minimum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in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a</a:t>
            </a:r>
            <a:r>
              <a:rPr sz="800" spc="-20" dirty="0">
                <a:latin typeface="Calibri"/>
                <a:cs typeface="Calibri"/>
              </a:rPr>
              <a:t> tree.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Node* </a:t>
            </a:r>
            <a:r>
              <a:rPr sz="800" spc="-10" dirty="0">
                <a:latin typeface="Calibri"/>
                <a:cs typeface="Calibri"/>
              </a:rPr>
              <a:t>FindMin(Node*</a:t>
            </a:r>
            <a:r>
              <a:rPr sz="800" spc="30" dirty="0">
                <a:latin typeface="Calibri"/>
                <a:cs typeface="Calibri"/>
              </a:rPr>
              <a:t> </a:t>
            </a:r>
            <a:r>
              <a:rPr sz="800" spc="-20" dirty="0">
                <a:latin typeface="Calibri"/>
                <a:cs typeface="Calibri"/>
              </a:rPr>
              <a:t>root)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Calibri"/>
                <a:cs typeface="Calibri"/>
              </a:rPr>
              <a:t>{</a:t>
            </a:r>
            <a:endParaRPr sz="800">
              <a:latin typeface="Calibri"/>
              <a:cs typeface="Calibri"/>
            </a:endParaRPr>
          </a:p>
          <a:p>
            <a:pPr marL="355600" marR="1614805">
              <a:lnSpc>
                <a:spcPct val="100000"/>
              </a:lnSpc>
            </a:pPr>
            <a:r>
              <a:rPr sz="800" spc="-10" dirty="0">
                <a:latin typeface="Calibri"/>
                <a:cs typeface="Calibri"/>
              </a:rPr>
              <a:t>while(root-</a:t>
            </a:r>
            <a:r>
              <a:rPr sz="800" dirty="0">
                <a:latin typeface="Calibri"/>
                <a:cs typeface="Calibri"/>
              </a:rPr>
              <a:t>&gt;left</a:t>
            </a:r>
            <a:r>
              <a:rPr sz="800" spc="3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!=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NULL)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root =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root-&gt;left;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return</a:t>
            </a:r>
            <a:r>
              <a:rPr sz="800" spc="1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root;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Calibri"/>
                <a:cs typeface="Calibri"/>
              </a:rPr>
              <a:t>}</a:t>
            </a:r>
            <a:endParaRPr sz="800">
              <a:latin typeface="Calibri"/>
              <a:cs typeface="Calibri"/>
            </a:endParaRPr>
          </a:p>
          <a:p>
            <a:pPr marL="12700" marR="1659255">
              <a:lnSpc>
                <a:spcPct val="100000"/>
              </a:lnSpc>
              <a:spcBef>
                <a:spcPts val="960"/>
              </a:spcBef>
            </a:pPr>
            <a:r>
              <a:rPr sz="800" dirty="0">
                <a:latin typeface="Calibri"/>
                <a:cs typeface="Calibri"/>
              </a:rPr>
              <a:t>//</a:t>
            </a:r>
            <a:r>
              <a:rPr sz="800" spc="-3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Function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to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search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a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delete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a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value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from</a:t>
            </a:r>
            <a:r>
              <a:rPr sz="800" spc="-20" dirty="0">
                <a:latin typeface="Calibri"/>
                <a:cs typeface="Calibri"/>
              </a:rPr>
              <a:t> tree.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struct</a:t>
            </a:r>
            <a:r>
              <a:rPr sz="800" spc="-3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Node* </a:t>
            </a:r>
            <a:r>
              <a:rPr sz="800" spc="-10" dirty="0">
                <a:latin typeface="Calibri"/>
                <a:cs typeface="Calibri"/>
              </a:rPr>
              <a:t>Delete(struct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Node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*root,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int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data)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spc="-50" dirty="0">
                <a:latin typeface="Calibri"/>
                <a:cs typeface="Calibri"/>
              </a:rPr>
              <a:t>{</a:t>
            </a:r>
            <a:endParaRPr sz="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800" dirty="0">
                <a:latin typeface="Calibri"/>
                <a:cs typeface="Calibri"/>
              </a:rPr>
              <a:t>if(root</a:t>
            </a:r>
            <a:r>
              <a:rPr sz="800" spc="-3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==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NULL)</a:t>
            </a:r>
            <a:r>
              <a:rPr sz="800" spc="-4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return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-20" dirty="0">
                <a:latin typeface="Calibri"/>
                <a:cs typeface="Calibri"/>
              </a:rPr>
              <a:t>root;</a:t>
            </a:r>
            <a:endParaRPr sz="800">
              <a:latin typeface="Calibri"/>
              <a:cs typeface="Calibri"/>
            </a:endParaRPr>
          </a:p>
          <a:p>
            <a:pPr marL="355600" marR="718185">
              <a:lnSpc>
                <a:spcPct val="100000"/>
              </a:lnSpc>
            </a:pPr>
            <a:r>
              <a:rPr sz="800" dirty="0">
                <a:latin typeface="Calibri"/>
                <a:cs typeface="Calibri"/>
              </a:rPr>
              <a:t>else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if(data</a:t>
            </a:r>
            <a:r>
              <a:rPr sz="800" spc="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&lt;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root-</a:t>
            </a:r>
            <a:r>
              <a:rPr sz="800" dirty="0">
                <a:latin typeface="Calibri"/>
                <a:cs typeface="Calibri"/>
              </a:rPr>
              <a:t>&gt;data)</a:t>
            </a:r>
            <a:r>
              <a:rPr sz="800" spc="1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root-</a:t>
            </a:r>
            <a:r>
              <a:rPr sz="800" dirty="0">
                <a:latin typeface="Calibri"/>
                <a:cs typeface="Calibri"/>
              </a:rPr>
              <a:t>&gt;left</a:t>
            </a:r>
            <a:r>
              <a:rPr sz="800" spc="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Delete(root-&gt;left,data);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else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if</a:t>
            </a:r>
            <a:r>
              <a:rPr sz="800" spc="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(data &gt;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root-</a:t>
            </a:r>
            <a:r>
              <a:rPr sz="800" dirty="0">
                <a:latin typeface="Calibri"/>
                <a:cs typeface="Calibri"/>
              </a:rPr>
              <a:t>&gt;data)</a:t>
            </a:r>
            <a:r>
              <a:rPr sz="800" spc="1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root-</a:t>
            </a:r>
            <a:r>
              <a:rPr sz="800" dirty="0">
                <a:latin typeface="Calibri"/>
                <a:cs typeface="Calibri"/>
              </a:rPr>
              <a:t>&gt;right</a:t>
            </a:r>
            <a:r>
              <a:rPr sz="800" spc="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 </a:t>
            </a:r>
            <a:r>
              <a:rPr sz="800" spc="-10" dirty="0">
                <a:latin typeface="Calibri"/>
                <a:cs typeface="Calibri"/>
              </a:rPr>
              <a:t>Delete(root-&gt;right,data);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else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-50" dirty="0">
                <a:latin typeface="Calibri"/>
                <a:cs typeface="Calibri"/>
              </a:rPr>
              <a:t>{</a:t>
            </a:r>
            <a:endParaRPr sz="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800" dirty="0">
                <a:latin typeface="Calibri"/>
                <a:cs typeface="Calibri"/>
              </a:rPr>
              <a:t>//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Case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1:</a:t>
            </a:r>
            <a:r>
              <a:rPr sz="800" spc="15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No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child</a:t>
            </a:r>
            <a:endParaRPr sz="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800" spc="-10" dirty="0">
                <a:latin typeface="Calibri"/>
                <a:cs typeface="Calibri"/>
              </a:rPr>
              <a:t>if(root-</a:t>
            </a:r>
            <a:r>
              <a:rPr sz="800" dirty="0">
                <a:latin typeface="Calibri"/>
                <a:cs typeface="Calibri"/>
              </a:rPr>
              <a:t>&gt;left</a:t>
            </a:r>
            <a:r>
              <a:rPr sz="800" spc="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==</a:t>
            </a:r>
            <a:r>
              <a:rPr sz="800" spc="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NULL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&amp;&amp;</a:t>
            </a:r>
            <a:r>
              <a:rPr sz="800" spc="-10" dirty="0">
                <a:latin typeface="Calibri"/>
                <a:cs typeface="Calibri"/>
              </a:rPr>
              <a:t> root-</a:t>
            </a:r>
            <a:r>
              <a:rPr sz="800" dirty="0">
                <a:latin typeface="Calibri"/>
                <a:cs typeface="Calibri"/>
              </a:rPr>
              <a:t>&gt;right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==</a:t>
            </a:r>
            <a:r>
              <a:rPr sz="800" spc="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NULL)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-50" dirty="0">
                <a:latin typeface="Calibri"/>
                <a:cs typeface="Calibri"/>
              </a:rPr>
              <a:t>{</a:t>
            </a:r>
            <a:endParaRPr sz="800">
              <a:latin typeface="Calibri"/>
              <a:cs typeface="Calibri"/>
            </a:endParaRPr>
          </a:p>
          <a:p>
            <a:pPr marL="1841500" marR="1358265">
              <a:lnSpc>
                <a:spcPct val="100000"/>
              </a:lnSpc>
            </a:pPr>
            <a:r>
              <a:rPr sz="800" spc="-10" dirty="0">
                <a:latin typeface="Calibri"/>
                <a:cs typeface="Calibri"/>
              </a:rPr>
              <a:t>free(root);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root</a:t>
            </a:r>
            <a:r>
              <a:rPr sz="800" spc="-3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NULL;</a:t>
            </a:r>
            <a:endParaRPr sz="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800" spc="-50" dirty="0">
                <a:latin typeface="Calibri"/>
                <a:cs typeface="Calibri"/>
              </a:rPr>
              <a:t>}</a:t>
            </a:r>
            <a:endParaRPr sz="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800" spc="-10" dirty="0">
                <a:latin typeface="Calibri"/>
                <a:cs typeface="Calibri"/>
              </a:rPr>
              <a:t>//Case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2: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One</a:t>
            </a:r>
            <a:r>
              <a:rPr sz="800" spc="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child</a:t>
            </a:r>
            <a:endParaRPr sz="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800" dirty="0">
                <a:latin typeface="Calibri"/>
                <a:cs typeface="Calibri"/>
              </a:rPr>
              <a:t>else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if(root-</a:t>
            </a:r>
            <a:r>
              <a:rPr sz="800" dirty="0">
                <a:latin typeface="Calibri"/>
                <a:cs typeface="Calibri"/>
              </a:rPr>
              <a:t>&gt;left</a:t>
            </a:r>
            <a:r>
              <a:rPr sz="800" spc="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==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NULL)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-50" dirty="0">
                <a:latin typeface="Calibri"/>
                <a:cs typeface="Calibri"/>
              </a:rPr>
              <a:t>{</a:t>
            </a:r>
            <a:endParaRPr sz="800">
              <a:latin typeface="Calibri"/>
              <a:cs typeface="Calibri"/>
            </a:endParaRPr>
          </a:p>
          <a:p>
            <a:pPr marL="1841500" marR="799465">
              <a:lnSpc>
                <a:spcPct val="100000"/>
              </a:lnSpc>
            </a:pPr>
            <a:r>
              <a:rPr sz="800" dirty="0">
                <a:latin typeface="Calibri"/>
                <a:cs typeface="Calibri"/>
              </a:rPr>
              <a:t>struct</a:t>
            </a:r>
            <a:r>
              <a:rPr sz="800" spc="-3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Node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*temp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</a:t>
            </a:r>
            <a:r>
              <a:rPr sz="800" spc="-20" dirty="0">
                <a:latin typeface="Calibri"/>
                <a:cs typeface="Calibri"/>
              </a:rPr>
              <a:t> root;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root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 </a:t>
            </a:r>
            <a:r>
              <a:rPr sz="800" spc="-10" dirty="0">
                <a:latin typeface="Calibri"/>
                <a:cs typeface="Calibri"/>
              </a:rPr>
              <a:t>root-&gt;right;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free(temp);</a:t>
            </a:r>
            <a:endParaRPr sz="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800" spc="-50" dirty="0">
                <a:latin typeface="Calibri"/>
                <a:cs typeface="Calibri"/>
              </a:rPr>
              <a:t>}</a:t>
            </a:r>
            <a:endParaRPr sz="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800" dirty="0">
                <a:latin typeface="Calibri"/>
                <a:cs typeface="Calibri"/>
              </a:rPr>
              <a:t>else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if(root-</a:t>
            </a:r>
            <a:r>
              <a:rPr sz="800" dirty="0">
                <a:latin typeface="Calibri"/>
                <a:cs typeface="Calibri"/>
              </a:rPr>
              <a:t>&gt;right</a:t>
            </a:r>
            <a:r>
              <a:rPr sz="800" spc="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==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NULL)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50" dirty="0">
                <a:latin typeface="Calibri"/>
                <a:cs typeface="Calibri"/>
              </a:rPr>
              <a:t>{</a:t>
            </a:r>
            <a:endParaRPr sz="800">
              <a:latin typeface="Calibri"/>
              <a:cs typeface="Calibri"/>
            </a:endParaRPr>
          </a:p>
          <a:p>
            <a:pPr marL="1841500" marR="799465">
              <a:lnSpc>
                <a:spcPct val="100000"/>
              </a:lnSpc>
            </a:pPr>
            <a:r>
              <a:rPr sz="800" dirty="0">
                <a:latin typeface="Calibri"/>
                <a:cs typeface="Calibri"/>
              </a:rPr>
              <a:t>struct</a:t>
            </a:r>
            <a:r>
              <a:rPr sz="800" spc="-3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Node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*temp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</a:t>
            </a:r>
            <a:r>
              <a:rPr sz="800" spc="-20" dirty="0">
                <a:latin typeface="Calibri"/>
                <a:cs typeface="Calibri"/>
              </a:rPr>
              <a:t> root;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root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 </a:t>
            </a:r>
            <a:r>
              <a:rPr sz="800" spc="-10" dirty="0">
                <a:latin typeface="Calibri"/>
                <a:cs typeface="Calibri"/>
              </a:rPr>
              <a:t>root-&gt;left;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free(temp);</a:t>
            </a:r>
            <a:endParaRPr sz="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800" spc="-50" dirty="0">
                <a:latin typeface="Calibri"/>
                <a:cs typeface="Calibri"/>
              </a:rPr>
              <a:t>}</a:t>
            </a:r>
            <a:endParaRPr sz="800">
              <a:latin typeface="Calibri"/>
              <a:cs typeface="Calibri"/>
            </a:endParaRPr>
          </a:p>
          <a:p>
            <a:pPr marL="927100" marR="1973580">
              <a:lnSpc>
                <a:spcPct val="100000"/>
              </a:lnSpc>
            </a:pPr>
            <a:r>
              <a:rPr sz="800" dirty="0">
                <a:latin typeface="Calibri"/>
                <a:cs typeface="Calibri"/>
              </a:rPr>
              <a:t>//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case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3: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2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children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else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-50" dirty="0">
                <a:latin typeface="Calibri"/>
                <a:cs typeface="Calibri"/>
              </a:rPr>
              <a:t>{</a:t>
            </a:r>
            <a:endParaRPr sz="800">
              <a:latin typeface="Calibri"/>
              <a:cs typeface="Calibri"/>
            </a:endParaRPr>
          </a:p>
          <a:p>
            <a:pPr marL="1841500" marR="12192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latin typeface="Calibri"/>
                <a:cs typeface="Calibri"/>
              </a:rPr>
              <a:t>struct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Node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*temp =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FindMin(root-&gt;right);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root-</a:t>
            </a:r>
            <a:r>
              <a:rPr sz="800" dirty="0">
                <a:latin typeface="Calibri"/>
                <a:cs typeface="Calibri"/>
              </a:rPr>
              <a:t>&gt;data</a:t>
            </a:r>
            <a:r>
              <a:rPr sz="800" spc="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</a:t>
            </a:r>
            <a:r>
              <a:rPr sz="800" spc="1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temp-&gt;data;</a:t>
            </a:r>
            <a:endParaRPr sz="80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</a:pPr>
            <a:r>
              <a:rPr sz="800" spc="-10" dirty="0">
                <a:latin typeface="Calibri"/>
                <a:cs typeface="Calibri"/>
              </a:rPr>
              <a:t>root-</a:t>
            </a:r>
            <a:r>
              <a:rPr sz="800" dirty="0">
                <a:latin typeface="Calibri"/>
                <a:cs typeface="Calibri"/>
              </a:rPr>
              <a:t>&gt;right</a:t>
            </a:r>
            <a:r>
              <a:rPr sz="800" spc="6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</a:t>
            </a:r>
            <a:r>
              <a:rPr sz="800" spc="8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Delete(root-&gt;right,temp-&gt;data);</a:t>
            </a:r>
            <a:endParaRPr sz="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800" spc="-50" dirty="0">
                <a:latin typeface="Calibri"/>
                <a:cs typeface="Calibri"/>
              </a:rPr>
              <a:t>}</a:t>
            </a:r>
            <a:endParaRPr sz="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800" spc="-50" dirty="0">
                <a:latin typeface="Calibri"/>
                <a:cs typeface="Calibri"/>
              </a:rPr>
              <a:t>}</a:t>
            </a:r>
            <a:endParaRPr sz="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800" spc="-10" dirty="0">
                <a:latin typeface="Calibri"/>
                <a:cs typeface="Calibri"/>
              </a:rPr>
              <a:t>return</a:t>
            </a:r>
            <a:r>
              <a:rPr sz="800" spc="1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root;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Calibri"/>
                <a:cs typeface="Calibri"/>
              </a:rPr>
              <a:t>}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599" y="1142987"/>
            <a:ext cx="6534150" cy="550545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304165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Hashing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179070" indent="-342900">
              <a:lnSpc>
                <a:spcPts val="3240"/>
              </a:lnSpc>
              <a:spcBef>
                <a:spcPts val="505"/>
              </a:spcBef>
              <a:buFont typeface="Arial"/>
              <a:buChar char="•"/>
              <a:tabLst>
                <a:tab pos="355600" algn="l"/>
              </a:tabLst>
            </a:pPr>
            <a:r>
              <a:rPr dirty="0"/>
              <a:t>Hashing</a:t>
            </a:r>
            <a:r>
              <a:rPr spc="-65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20" dirty="0"/>
              <a:t>well-</a:t>
            </a:r>
            <a:r>
              <a:rPr dirty="0"/>
              <a:t>known</a:t>
            </a:r>
            <a:r>
              <a:rPr spc="-65" dirty="0"/>
              <a:t> </a:t>
            </a:r>
            <a:r>
              <a:rPr dirty="0"/>
              <a:t>technique</a:t>
            </a:r>
            <a:r>
              <a:rPr spc="-75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dirty="0"/>
              <a:t>search</a:t>
            </a:r>
            <a:r>
              <a:rPr spc="-65" dirty="0"/>
              <a:t> </a:t>
            </a:r>
            <a:r>
              <a:rPr spc="-25" dirty="0"/>
              <a:t>any </a:t>
            </a:r>
            <a:r>
              <a:rPr dirty="0"/>
              <a:t>particular</a:t>
            </a:r>
            <a:r>
              <a:rPr spc="-105" dirty="0"/>
              <a:t> </a:t>
            </a:r>
            <a:r>
              <a:rPr dirty="0"/>
              <a:t>element</a:t>
            </a:r>
            <a:r>
              <a:rPr spc="-70" dirty="0"/>
              <a:t> </a:t>
            </a:r>
            <a:r>
              <a:rPr dirty="0"/>
              <a:t>among</a:t>
            </a:r>
            <a:r>
              <a:rPr spc="-75" dirty="0"/>
              <a:t> </a:t>
            </a:r>
            <a:r>
              <a:rPr dirty="0"/>
              <a:t>several</a:t>
            </a:r>
            <a:r>
              <a:rPr spc="-85" dirty="0"/>
              <a:t> </a:t>
            </a:r>
            <a:r>
              <a:rPr spc="-10" dirty="0"/>
              <a:t>elements.</a:t>
            </a:r>
          </a:p>
          <a:p>
            <a:pPr marL="355600" marR="509270" indent="-342900">
              <a:lnSpc>
                <a:spcPts val="3240"/>
              </a:lnSpc>
              <a:spcBef>
                <a:spcPts val="725"/>
              </a:spcBef>
              <a:buFont typeface="Arial"/>
              <a:buChar char="•"/>
              <a:tabLst>
                <a:tab pos="355600" algn="l"/>
              </a:tabLst>
            </a:pPr>
            <a:r>
              <a:rPr dirty="0"/>
              <a:t>It</a:t>
            </a:r>
            <a:r>
              <a:rPr spc="-80" dirty="0"/>
              <a:t> </a:t>
            </a:r>
            <a:r>
              <a:rPr dirty="0"/>
              <a:t>minimizes</a:t>
            </a:r>
            <a:r>
              <a:rPr spc="-40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number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comparisons</a:t>
            </a:r>
            <a:r>
              <a:rPr spc="-55" dirty="0"/>
              <a:t> </a:t>
            </a:r>
            <a:r>
              <a:rPr spc="-10" dirty="0"/>
              <a:t>while performing</a:t>
            </a:r>
            <a:r>
              <a:rPr spc="-5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search.</a:t>
            </a:r>
          </a:p>
          <a:p>
            <a:pPr marL="354965" indent="-34226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354965" algn="l"/>
              </a:tabLst>
            </a:pPr>
            <a:r>
              <a:rPr dirty="0"/>
              <a:t>Unlike</a:t>
            </a:r>
            <a:r>
              <a:rPr spc="-95" dirty="0"/>
              <a:t> </a:t>
            </a:r>
            <a:r>
              <a:rPr dirty="0"/>
              <a:t>other</a:t>
            </a:r>
            <a:r>
              <a:rPr spc="-75" dirty="0"/>
              <a:t> </a:t>
            </a:r>
            <a:r>
              <a:rPr dirty="0"/>
              <a:t>searching</a:t>
            </a:r>
            <a:r>
              <a:rPr spc="-95" dirty="0"/>
              <a:t> </a:t>
            </a:r>
            <a:r>
              <a:rPr spc="-10" dirty="0"/>
              <a:t>techniques,</a:t>
            </a:r>
          </a:p>
          <a:p>
            <a:pPr marL="756285" lvl="1" indent="-286385">
              <a:lnSpc>
                <a:spcPct val="100000"/>
              </a:lnSpc>
              <a:spcBef>
                <a:spcPts val="34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Hashing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extremely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efficient.</a:t>
            </a:r>
            <a:endParaRPr sz="2600">
              <a:latin typeface="Calibri"/>
              <a:cs typeface="Calibri"/>
            </a:endParaRPr>
          </a:p>
          <a:p>
            <a:pPr marL="756285" marR="347980" lvl="1" indent="-287020">
              <a:lnSpc>
                <a:spcPts val="2810"/>
              </a:lnSpc>
              <a:spcBef>
                <a:spcPts val="66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time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taken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perform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search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not </a:t>
            </a:r>
            <a:r>
              <a:rPr sz="2600" dirty="0">
                <a:latin typeface="Calibri"/>
                <a:cs typeface="Calibri"/>
              </a:rPr>
              <a:t>depend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upon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total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number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elements.</a:t>
            </a:r>
            <a:endParaRPr sz="2600">
              <a:latin typeface="Calibri"/>
              <a:cs typeface="Calibri"/>
            </a:endParaRPr>
          </a:p>
          <a:p>
            <a:pPr marL="756285" marR="5080" lvl="1" indent="-287020">
              <a:lnSpc>
                <a:spcPts val="2810"/>
              </a:lnSpc>
              <a:spcBef>
                <a:spcPts val="62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It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completes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search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constant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time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complexity O(1).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657350">
              <a:lnSpc>
                <a:spcPct val="100000"/>
              </a:lnSpc>
              <a:spcBef>
                <a:spcPts val="105"/>
              </a:spcBef>
            </a:pPr>
            <a:r>
              <a:rPr dirty="0"/>
              <a:t>Hashing</a:t>
            </a:r>
            <a:r>
              <a:rPr spc="-15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7902575" cy="2075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array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structure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called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Hash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table</a:t>
            </a:r>
            <a:r>
              <a:rPr sz="3200" b="1" spc="-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is </a:t>
            </a:r>
            <a:r>
              <a:rPr sz="3200" dirty="0">
                <a:latin typeface="Calibri"/>
                <a:cs typeface="Calibri"/>
              </a:rPr>
              <a:t>used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store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items.</a:t>
            </a:r>
            <a:endParaRPr sz="3200">
              <a:latin typeface="Calibri"/>
              <a:cs typeface="Calibri"/>
            </a:endParaRPr>
          </a:p>
          <a:p>
            <a:pPr marL="355600" marR="33401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Based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hash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key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value,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items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are </a:t>
            </a:r>
            <a:r>
              <a:rPr sz="3200" dirty="0">
                <a:latin typeface="Calibri"/>
                <a:cs typeface="Calibri"/>
              </a:rPr>
              <a:t>inserted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hash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table.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249170">
              <a:lnSpc>
                <a:spcPct val="100000"/>
              </a:lnSpc>
              <a:spcBef>
                <a:spcPts val="105"/>
              </a:spcBef>
            </a:pPr>
            <a:r>
              <a:rPr dirty="0"/>
              <a:t>Hash</a:t>
            </a:r>
            <a:r>
              <a:rPr spc="-75" dirty="0"/>
              <a:t> </a:t>
            </a:r>
            <a:r>
              <a:rPr dirty="0"/>
              <a:t>Key</a:t>
            </a:r>
            <a:r>
              <a:rPr spc="-65" dirty="0"/>
              <a:t> </a:t>
            </a:r>
            <a:r>
              <a:rPr spc="-10" dirty="0"/>
              <a:t>value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3661"/>
            <a:ext cx="7827645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Hash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index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item.</a:t>
            </a:r>
            <a:endParaRPr sz="2400">
              <a:latin typeface="Calibri"/>
              <a:cs typeface="Calibri"/>
            </a:endParaRPr>
          </a:p>
          <a:p>
            <a:pPr marL="355600" marR="236854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indicates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hash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table.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Hash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function.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975" y="3924300"/>
            <a:ext cx="6276975" cy="264795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329815">
              <a:lnSpc>
                <a:spcPct val="100000"/>
              </a:lnSpc>
              <a:spcBef>
                <a:spcPts val="105"/>
              </a:spcBef>
            </a:pPr>
            <a:r>
              <a:rPr dirty="0"/>
              <a:t>Hash</a:t>
            </a:r>
            <a:r>
              <a:rPr spc="-25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530" rIns="0" bIns="0" rtlCol="0">
            <a:spAutoFit/>
          </a:bodyPr>
          <a:lstStyle/>
          <a:p>
            <a:pPr marL="355600" marR="24447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/>
              <a:t>Hash</a:t>
            </a:r>
            <a:r>
              <a:rPr sz="3200" spc="-95" dirty="0"/>
              <a:t> </a:t>
            </a:r>
            <a:r>
              <a:rPr sz="3200" dirty="0"/>
              <a:t>function</a:t>
            </a:r>
            <a:r>
              <a:rPr sz="3200" spc="-55" dirty="0"/>
              <a:t> </a:t>
            </a:r>
            <a:r>
              <a:rPr sz="3200" dirty="0"/>
              <a:t>is</a:t>
            </a:r>
            <a:r>
              <a:rPr sz="3200" spc="-85" dirty="0"/>
              <a:t> </a:t>
            </a:r>
            <a:r>
              <a:rPr sz="3200" dirty="0"/>
              <a:t>a</a:t>
            </a:r>
            <a:r>
              <a:rPr sz="3200" spc="-75" dirty="0"/>
              <a:t> </a:t>
            </a:r>
            <a:r>
              <a:rPr sz="3200" dirty="0"/>
              <a:t>function</a:t>
            </a:r>
            <a:r>
              <a:rPr sz="3200" spc="-55" dirty="0"/>
              <a:t> </a:t>
            </a:r>
            <a:r>
              <a:rPr sz="3200" dirty="0"/>
              <a:t>that</a:t>
            </a:r>
            <a:r>
              <a:rPr sz="3200" spc="-70" dirty="0"/>
              <a:t> </a:t>
            </a:r>
            <a:r>
              <a:rPr sz="3200" dirty="0"/>
              <a:t>maps</a:t>
            </a:r>
            <a:r>
              <a:rPr sz="3200" spc="-75" dirty="0"/>
              <a:t> </a:t>
            </a:r>
            <a:r>
              <a:rPr sz="3200" dirty="0"/>
              <a:t>any</a:t>
            </a:r>
            <a:r>
              <a:rPr sz="3200" spc="-65" dirty="0"/>
              <a:t> </a:t>
            </a:r>
            <a:r>
              <a:rPr sz="3200" spc="-25" dirty="0"/>
              <a:t>big </a:t>
            </a:r>
            <a:r>
              <a:rPr sz="3200" dirty="0"/>
              <a:t>number</a:t>
            </a:r>
            <a:r>
              <a:rPr sz="3200" spc="-70" dirty="0"/>
              <a:t> </a:t>
            </a:r>
            <a:r>
              <a:rPr sz="3200" dirty="0"/>
              <a:t>or</a:t>
            </a:r>
            <a:r>
              <a:rPr sz="3200" spc="-65" dirty="0"/>
              <a:t> </a:t>
            </a:r>
            <a:r>
              <a:rPr sz="3200" dirty="0"/>
              <a:t>string</a:t>
            </a:r>
            <a:r>
              <a:rPr sz="3200" spc="-55" dirty="0"/>
              <a:t> </a:t>
            </a:r>
            <a:r>
              <a:rPr sz="3200" dirty="0"/>
              <a:t>to</a:t>
            </a:r>
            <a:r>
              <a:rPr sz="3200" spc="-65" dirty="0"/>
              <a:t> </a:t>
            </a:r>
            <a:r>
              <a:rPr sz="3200" dirty="0"/>
              <a:t>a</a:t>
            </a:r>
            <a:r>
              <a:rPr sz="3200" spc="-60" dirty="0"/>
              <a:t> </a:t>
            </a:r>
            <a:r>
              <a:rPr sz="3200" dirty="0"/>
              <a:t>small</a:t>
            </a:r>
            <a:r>
              <a:rPr sz="3200" spc="-60" dirty="0"/>
              <a:t> </a:t>
            </a:r>
            <a:r>
              <a:rPr sz="3200" dirty="0"/>
              <a:t>integer</a:t>
            </a:r>
            <a:r>
              <a:rPr sz="3200" spc="-65" dirty="0"/>
              <a:t> </a:t>
            </a:r>
            <a:r>
              <a:rPr sz="3200" spc="-10" dirty="0"/>
              <a:t>value.</a:t>
            </a:r>
            <a:endParaRPr sz="3200"/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/>
              <a:t>Hash</a:t>
            </a:r>
            <a:r>
              <a:rPr sz="3200" spc="-75" dirty="0"/>
              <a:t> </a:t>
            </a:r>
            <a:r>
              <a:rPr sz="3200" dirty="0"/>
              <a:t>function</a:t>
            </a:r>
            <a:r>
              <a:rPr sz="3200" spc="-55" dirty="0"/>
              <a:t> </a:t>
            </a:r>
            <a:r>
              <a:rPr sz="3200" spc="-10" dirty="0"/>
              <a:t>takes</a:t>
            </a:r>
            <a:r>
              <a:rPr sz="3200" spc="-75" dirty="0"/>
              <a:t> </a:t>
            </a:r>
            <a:r>
              <a:rPr sz="3200" dirty="0"/>
              <a:t>the</a:t>
            </a:r>
            <a:r>
              <a:rPr sz="3200" spc="-75" dirty="0"/>
              <a:t> </a:t>
            </a:r>
            <a:r>
              <a:rPr sz="3200" dirty="0"/>
              <a:t>data</a:t>
            </a:r>
            <a:r>
              <a:rPr sz="3200" spc="-75" dirty="0"/>
              <a:t> </a:t>
            </a:r>
            <a:r>
              <a:rPr sz="3200" dirty="0"/>
              <a:t>item</a:t>
            </a:r>
            <a:r>
              <a:rPr sz="3200" spc="-65" dirty="0"/>
              <a:t> </a:t>
            </a:r>
            <a:r>
              <a:rPr sz="3200" dirty="0"/>
              <a:t>as</a:t>
            </a:r>
            <a:r>
              <a:rPr sz="3200" spc="-75" dirty="0"/>
              <a:t> </a:t>
            </a:r>
            <a:r>
              <a:rPr sz="3200" dirty="0"/>
              <a:t>an</a:t>
            </a:r>
            <a:r>
              <a:rPr sz="3200" spc="-70" dirty="0"/>
              <a:t> </a:t>
            </a:r>
            <a:r>
              <a:rPr sz="3200" spc="-10" dirty="0"/>
              <a:t>input </a:t>
            </a:r>
            <a:r>
              <a:rPr sz="3200" dirty="0"/>
              <a:t>and</a:t>
            </a:r>
            <a:r>
              <a:rPr sz="3200" spc="-80" dirty="0"/>
              <a:t> </a:t>
            </a:r>
            <a:r>
              <a:rPr sz="3200" dirty="0"/>
              <a:t>returns</a:t>
            </a:r>
            <a:r>
              <a:rPr sz="3200" spc="-80" dirty="0"/>
              <a:t> </a:t>
            </a:r>
            <a:r>
              <a:rPr sz="3200" dirty="0"/>
              <a:t>a</a:t>
            </a:r>
            <a:r>
              <a:rPr sz="3200" spc="-75" dirty="0"/>
              <a:t> </a:t>
            </a:r>
            <a:r>
              <a:rPr sz="3200" dirty="0"/>
              <a:t>small</a:t>
            </a:r>
            <a:r>
              <a:rPr sz="3200" spc="-65" dirty="0"/>
              <a:t> </a:t>
            </a:r>
            <a:r>
              <a:rPr sz="3200" dirty="0"/>
              <a:t>integer</a:t>
            </a:r>
            <a:r>
              <a:rPr sz="3200" spc="-70" dirty="0"/>
              <a:t> </a:t>
            </a:r>
            <a:r>
              <a:rPr sz="3200" dirty="0"/>
              <a:t>value</a:t>
            </a:r>
            <a:r>
              <a:rPr sz="3200" spc="-75" dirty="0"/>
              <a:t> </a:t>
            </a:r>
            <a:r>
              <a:rPr sz="3200" dirty="0"/>
              <a:t>as</a:t>
            </a:r>
            <a:r>
              <a:rPr sz="3200" spc="-85" dirty="0"/>
              <a:t> </a:t>
            </a:r>
            <a:r>
              <a:rPr sz="3200" dirty="0"/>
              <a:t>an</a:t>
            </a:r>
            <a:r>
              <a:rPr sz="3200" spc="-65" dirty="0"/>
              <a:t> </a:t>
            </a:r>
            <a:r>
              <a:rPr sz="3200" spc="-10" dirty="0"/>
              <a:t>output.</a:t>
            </a:r>
            <a:endParaRPr sz="3200"/>
          </a:p>
          <a:p>
            <a:pPr marL="355600" marR="85280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/>
              <a:t>The</a:t>
            </a:r>
            <a:r>
              <a:rPr sz="3200" spc="-55" dirty="0"/>
              <a:t> </a:t>
            </a:r>
            <a:r>
              <a:rPr sz="3200" dirty="0"/>
              <a:t>small</a:t>
            </a:r>
            <a:r>
              <a:rPr sz="3200" spc="-40" dirty="0"/>
              <a:t> </a:t>
            </a:r>
            <a:r>
              <a:rPr sz="3200" dirty="0"/>
              <a:t>integer</a:t>
            </a:r>
            <a:r>
              <a:rPr sz="3200" spc="-45" dirty="0"/>
              <a:t> </a:t>
            </a:r>
            <a:r>
              <a:rPr sz="3200" dirty="0"/>
              <a:t>value</a:t>
            </a:r>
            <a:r>
              <a:rPr sz="3200" spc="-55" dirty="0"/>
              <a:t> </a:t>
            </a:r>
            <a:r>
              <a:rPr sz="3200" dirty="0"/>
              <a:t>is</a:t>
            </a:r>
            <a:r>
              <a:rPr sz="3200" spc="-55" dirty="0"/>
              <a:t> </a:t>
            </a:r>
            <a:r>
              <a:rPr sz="3200" dirty="0"/>
              <a:t>called</a:t>
            </a:r>
            <a:r>
              <a:rPr sz="3200" spc="-45" dirty="0"/>
              <a:t> </a:t>
            </a:r>
            <a:r>
              <a:rPr sz="3200" dirty="0"/>
              <a:t>as</a:t>
            </a:r>
            <a:r>
              <a:rPr sz="3200" spc="-45" dirty="0"/>
              <a:t> </a:t>
            </a:r>
            <a:r>
              <a:rPr sz="3200" dirty="0"/>
              <a:t>a</a:t>
            </a:r>
            <a:r>
              <a:rPr sz="3200" spc="-45" dirty="0"/>
              <a:t> </a:t>
            </a:r>
            <a:r>
              <a:rPr sz="3200" spc="-20" dirty="0"/>
              <a:t>hash </a:t>
            </a:r>
            <a:r>
              <a:rPr sz="3200" spc="-10" dirty="0"/>
              <a:t>value.</a:t>
            </a:r>
            <a:endParaRPr sz="3200"/>
          </a:p>
          <a:p>
            <a:pPr marL="355600" marR="103505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/>
              <a:t>Hash</a:t>
            </a:r>
            <a:r>
              <a:rPr sz="3200" spc="-70" dirty="0"/>
              <a:t> </a:t>
            </a:r>
            <a:r>
              <a:rPr sz="3200" dirty="0"/>
              <a:t>value</a:t>
            </a:r>
            <a:r>
              <a:rPr sz="3200" spc="-50" dirty="0"/>
              <a:t> </a:t>
            </a:r>
            <a:r>
              <a:rPr sz="3200" dirty="0"/>
              <a:t>of</a:t>
            </a:r>
            <a:r>
              <a:rPr sz="3200" spc="-55" dirty="0"/>
              <a:t> </a:t>
            </a:r>
            <a:r>
              <a:rPr sz="3200" dirty="0"/>
              <a:t>the</a:t>
            </a:r>
            <a:r>
              <a:rPr sz="3200" spc="-50" dirty="0"/>
              <a:t> </a:t>
            </a:r>
            <a:r>
              <a:rPr sz="3200" dirty="0"/>
              <a:t>data</a:t>
            </a:r>
            <a:r>
              <a:rPr sz="3200" spc="-50" dirty="0"/>
              <a:t> </a:t>
            </a:r>
            <a:r>
              <a:rPr sz="3200" dirty="0"/>
              <a:t>item</a:t>
            </a:r>
            <a:r>
              <a:rPr sz="3200" spc="-45" dirty="0"/>
              <a:t> </a:t>
            </a:r>
            <a:r>
              <a:rPr sz="3200" dirty="0"/>
              <a:t>is</a:t>
            </a:r>
            <a:r>
              <a:rPr sz="3200" spc="-60" dirty="0"/>
              <a:t> </a:t>
            </a:r>
            <a:r>
              <a:rPr sz="3200" dirty="0"/>
              <a:t>then</a:t>
            </a:r>
            <a:r>
              <a:rPr sz="3200" spc="-60" dirty="0"/>
              <a:t> </a:t>
            </a:r>
            <a:r>
              <a:rPr sz="3200" dirty="0"/>
              <a:t>used</a:t>
            </a:r>
            <a:r>
              <a:rPr sz="3200" spc="-55" dirty="0"/>
              <a:t> </a:t>
            </a:r>
            <a:r>
              <a:rPr sz="3200" dirty="0"/>
              <a:t>as</a:t>
            </a:r>
            <a:r>
              <a:rPr sz="3200" spc="-45" dirty="0"/>
              <a:t> </a:t>
            </a:r>
            <a:r>
              <a:rPr sz="3200" spc="-25" dirty="0"/>
              <a:t>an </a:t>
            </a:r>
            <a:r>
              <a:rPr sz="3200" dirty="0"/>
              <a:t>index</a:t>
            </a:r>
            <a:r>
              <a:rPr sz="3200" spc="-80" dirty="0"/>
              <a:t> </a:t>
            </a:r>
            <a:r>
              <a:rPr sz="3200" dirty="0"/>
              <a:t>for</a:t>
            </a:r>
            <a:r>
              <a:rPr sz="3200" spc="-75" dirty="0"/>
              <a:t> </a:t>
            </a:r>
            <a:r>
              <a:rPr sz="3200" dirty="0"/>
              <a:t>storing</a:t>
            </a:r>
            <a:r>
              <a:rPr sz="3200" spc="-55" dirty="0"/>
              <a:t> </a:t>
            </a:r>
            <a:r>
              <a:rPr sz="3200" dirty="0"/>
              <a:t>it</a:t>
            </a:r>
            <a:r>
              <a:rPr sz="3200" spc="-75" dirty="0"/>
              <a:t> </a:t>
            </a:r>
            <a:r>
              <a:rPr sz="3200" dirty="0"/>
              <a:t>into</a:t>
            </a:r>
            <a:r>
              <a:rPr sz="3200" spc="-65" dirty="0"/>
              <a:t> </a:t>
            </a:r>
            <a:r>
              <a:rPr sz="3200" dirty="0"/>
              <a:t>the</a:t>
            </a:r>
            <a:r>
              <a:rPr sz="3200" spc="-85" dirty="0"/>
              <a:t> </a:t>
            </a:r>
            <a:r>
              <a:rPr sz="3200" dirty="0"/>
              <a:t>hash</a:t>
            </a:r>
            <a:r>
              <a:rPr sz="3200" spc="-65" dirty="0"/>
              <a:t> </a:t>
            </a:r>
            <a:r>
              <a:rPr sz="3200" spc="-10" dirty="0"/>
              <a:t>table.</a:t>
            </a:r>
            <a:endParaRPr sz="32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214120">
              <a:lnSpc>
                <a:spcPct val="100000"/>
              </a:lnSpc>
              <a:spcBef>
                <a:spcPts val="105"/>
              </a:spcBef>
            </a:pPr>
            <a:r>
              <a:rPr dirty="0"/>
              <a:t>Types</a:t>
            </a:r>
            <a:r>
              <a:rPr spc="-90" dirty="0"/>
              <a:t> </a:t>
            </a:r>
            <a:r>
              <a:rPr dirty="0"/>
              <a:t>of</a:t>
            </a:r>
            <a:r>
              <a:rPr spc="-85" dirty="0"/>
              <a:t> </a:t>
            </a:r>
            <a:r>
              <a:rPr dirty="0"/>
              <a:t>Hash</a:t>
            </a:r>
            <a:r>
              <a:rPr spc="-80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7513955" cy="441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6576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There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various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types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hash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functions </a:t>
            </a:r>
            <a:r>
              <a:rPr sz="3200" dirty="0">
                <a:latin typeface="Calibri"/>
                <a:cs typeface="Calibri"/>
              </a:rPr>
              <a:t>available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such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as-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Mid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Square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Hash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Function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Division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Hash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Function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Folding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Hash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etc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0"/>
              </a:spcBef>
              <a:buFont typeface="Arial"/>
              <a:buChar char="•"/>
            </a:pP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depends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which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hash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function </a:t>
            </a:r>
            <a:r>
              <a:rPr sz="3200" dirty="0">
                <a:latin typeface="Calibri"/>
                <a:cs typeface="Calibri"/>
              </a:rPr>
              <a:t>wants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use.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795020">
              <a:lnSpc>
                <a:spcPct val="100000"/>
              </a:lnSpc>
              <a:spcBef>
                <a:spcPts val="105"/>
              </a:spcBef>
            </a:pPr>
            <a:r>
              <a:rPr dirty="0"/>
              <a:t>Properties</a:t>
            </a:r>
            <a:r>
              <a:rPr spc="-7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Hash</a:t>
            </a:r>
            <a:r>
              <a:rPr spc="-35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6973"/>
            <a:ext cx="7529195" cy="215328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properties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good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hash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are-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efficiently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computable.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minimizes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collisions.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distributes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uniformly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over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745614">
              <a:lnSpc>
                <a:spcPct val="100000"/>
              </a:lnSpc>
              <a:spcBef>
                <a:spcPts val="105"/>
              </a:spcBef>
            </a:pPr>
            <a:r>
              <a:rPr dirty="0"/>
              <a:t>Collision</a:t>
            </a:r>
            <a:r>
              <a:rPr spc="-105" dirty="0"/>
              <a:t> </a:t>
            </a:r>
            <a:r>
              <a:rPr dirty="0"/>
              <a:t>in</a:t>
            </a:r>
            <a:r>
              <a:rPr spc="-100" dirty="0"/>
              <a:t> </a:t>
            </a:r>
            <a:r>
              <a:rPr spc="-10" dirty="0"/>
              <a:t>Hashing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0613"/>
            <a:ext cx="7867650" cy="4122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Hash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key.</a:t>
            </a:r>
            <a:endParaRPr sz="2800">
              <a:latin typeface="Calibri"/>
              <a:cs typeface="Calibri"/>
            </a:endParaRPr>
          </a:p>
          <a:p>
            <a:pPr marL="355600" marR="94615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Hash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index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store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key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hash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table.</a:t>
            </a:r>
            <a:endParaRPr sz="2800">
              <a:latin typeface="Calibri"/>
              <a:cs typeface="Calibri"/>
            </a:endParaRPr>
          </a:p>
          <a:p>
            <a:pPr marL="355600" marR="295275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Hash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return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same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keys.</a:t>
            </a:r>
            <a:endParaRPr sz="2800">
              <a:latin typeface="Calibri"/>
              <a:cs typeface="Calibri"/>
            </a:endParaRPr>
          </a:p>
          <a:p>
            <a:pPr marL="355600" marR="439420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When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hash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maps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already </a:t>
            </a:r>
            <a:r>
              <a:rPr sz="2800" dirty="0">
                <a:latin typeface="Calibri"/>
                <a:cs typeface="Calibri"/>
              </a:rPr>
              <a:t>occupied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bucket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</a:t>
            </a:r>
            <a:r>
              <a:rPr sz="2800" spc="7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Collision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389890">
              <a:lnSpc>
                <a:spcPct val="100000"/>
              </a:lnSpc>
              <a:spcBef>
                <a:spcPts val="105"/>
              </a:spcBef>
            </a:pPr>
            <a:r>
              <a:rPr dirty="0"/>
              <a:t>Collision</a:t>
            </a:r>
            <a:r>
              <a:rPr spc="-145" dirty="0"/>
              <a:t> </a:t>
            </a:r>
            <a:r>
              <a:rPr dirty="0"/>
              <a:t>Resolution</a:t>
            </a:r>
            <a:r>
              <a:rPr spc="-160" dirty="0"/>
              <a:t> </a:t>
            </a:r>
            <a:r>
              <a:rPr spc="-20" dirty="0"/>
              <a:t>Techniques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0613"/>
            <a:ext cx="766635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Collision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Resolution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Techniques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techniques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resolving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handling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collision.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89509" y="2776727"/>
            <a:ext cx="2722245" cy="711835"/>
            <a:chOff x="2889509" y="2776727"/>
            <a:chExt cx="2722245" cy="711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9509" y="2837708"/>
              <a:ext cx="2721853" cy="65070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2300" y="2776727"/>
              <a:ext cx="2232660" cy="7040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8874" y="2857499"/>
              <a:ext cx="2643251" cy="5715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928874" y="2857499"/>
              <a:ext cx="2643505" cy="571500"/>
            </a:xfrm>
            <a:custGeom>
              <a:avLst/>
              <a:gdLst/>
              <a:ahLst/>
              <a:cxnLst/>
              <a:rect l="l" t="t" r="r" b="b"/>
              <a:pathLst>
                <a:path w="2643504" h="571500">
                  <a:moveTo>
                    <a:pt x="0" y="95250"/>
                  </a:moveTo>
                  <a:lnTo>
                    <a:pt x="7489" y="58185"/>
                  </a:lnTo>
                  <a:lnTo>
                    <a:pt x="27908" y="27908"/>
                  </a:lnTo>
                  <a:lnTo>
                    <a:pt x="58185" y="7489"/>
                  </a:lnTo>
                  <a:lnTo>
                    <a:pt x="95250" y="0"/>
                  </a:lnTo>
                  <a:lnTo>
                    <a:pt x="2548001" y="0"/>
                  </a:lnTo>
                  <a:lnTo>
                    <a:pt x="2585065" y="7489"/>
                  </a:lnTo>
                  <a:lnTo>
                    <a:pt x="2615342" y="27908"/>
                  </a:lnTo>
                  <a:lnTo>
                    <a:pt x="2635761" y="58185"/>
                  </a:lnTo>
                  <a:lnTo>
                    <a:pt x="2643251" y="95250"/>
                  </a:lnTo>
                  <a:lnTo>
                    <a:pt x="2643251" y="476250"/>
                  </a:lnTo>
                  <a:lnTo>
                    <a:pt x="2635761" y="513314"/>
                  </a:lnTo>
                  <a:lnTo>
                    <a:pt x="2615342" y="543591"/>
                  </a:lnTo>
                  <a:lnTo>
                    <a:pt x="2585065" y="564010"/>
                  </a:lnTo>
                  <a:lnTo>
                    <a:pt x="2548001" y="571500"/>
                  </a:lnTo>
                  <a:lnTo>
                    <a:pt x="95250" y="571500"/>
                  </a:lnTo>
                  <a:lnTo>
                    <a:pt x="58185" y="564010"/>
                  </a:lnTo>
                  <a:lnTo>
                    <a:pt x="27908" y="543591"/>
                  </a:lnTo>
                  <a:lnTo>
                    <a:pt x="7489" y="513314"/>
                  </a:lnTo>
                  <a:lnTo>
                    <a:pt x="0" y="476250"/>
                  </a:lnTo>
                  <a:lnTo>
                    <a:pt x="0" y="95250"/>
                  </a:lnTo>
                  <a:close/>
                </a:path>
              </a:pathLst>
            </a:custGeom>
            <a:ln w="12700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329178" y="2841497"/>
            <a:ext cx="184403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1320" marR="5080" indent="-38925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Collision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Resolution Techniques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247126" y="3811523"/>
            <a:ext cx="2508885" cy="704215"/>
            <a:chOff x="5247126" y="3811523"/>
            <a:chExt cx="2508885" cy="70421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47126" y="3909059"/>
              <a:ext cx="2508515" cy="5806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30596" y="3811523"/>
              <a:ext cx="1941576" cy="70408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86375" y="3929125"/>
              <a:ext cx="2428875" cy="4999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86375" y="3929125"/>
              <a:ext cx="2428875" cy="500380"/>
            </a:xfrm>
            <a:custGeom>
              <a:avLst/>
              <a:gdLst/>
              <a:ahLst/>
              <a:cxnLst/>
              <a:rect l="l" t="t" r="r" b="b"/>
              <a:pathLst>
                <a:path w="2428875" h="500379">
                  <a:moveTo>
                    <a:pt x="0" y="83312"/>
                  </a:moveTo>
                  <a:lnTo>
                    <a:pt x="6552" y="50845"/>
                  </a:lnTo>
                  <a:lnTo>
                    <a:pt x="24415" y="24368"/>
                  </a:lnTo>
                  <a:lnTo>
                    <a:pt x="50899" y="6534"/>
                  </a:lnTo>
                  <a:lnTo>
                    <a:pt x="83312" y="0"/>
                  </a:lnTo>
                  <a:lnTo>
                    <a:pt x="2345563" y="0"/>
                  </a:lnTo>
                  <a:lnTo>
                    <a:pt x="2377975" y="6534"/>
                  </a:lnTo>
                  <a:lnTo>
                    <a:pt x="2404459" y="24368"/>
                  </a:lnTo>
                  <a:lnTo>
                    <a:pt x="2422322" y="50845"/>
                  </a:lnTo>
                  <a:lnTo>
                    <a:pt x="2428875" y="83312"/>
                  </a:lnTo>
                  <a:lnTo>
                    <a:pt x="2428875" y="416687"/>
                  </a:lnTo>
                  <a:lnTo>
                    <a:pt x="2422322" y="449099"/>
                  </a:lnTo>
                  <a:lnTo>
                    <a:pt x="2404459" y="475583"/>
                  </a:lnTo>
                  <a:lnTo>
                    <a:pt x="2377975" y="493446"/>
                  </a:lnTo>
                  <a:lnTo>
                    <a:pt x="2345563" y="499999"/>
                  </a:lnTo>
                  <a:lnTo>
                    <a:pt x="83312" y="499999"/>
                  </a:lnTo>
                  <a:lnTo>
                    <a:pt x="50899" y="493446"/>
                  </a:lnTo>
                  <a:lnTo>
                    <a:pt x="24415" y="475583"/>
                  </a:lnTo>
                  <a:lnTo>
                    <a:pt x="6552" y="449099"/>
                  </a:lnTo>
                  <a:lnTo>
                    <a:pt x="0" y="416687"/>
                  </a:lnTo>
                  <a:lnTo>
                    <a:pt x="0" y="83312"/>
                  </a:lnTo>
                  <a:close/>
                </a:path>
              </a:pathLst>
            </a:custGeom>
            <a:ln w="12700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698363" y="3877513"/>
            <a:ext cx="16071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Open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Addressing</a:t>
            </a:r>
            <a:endParaRPr sz="1800">
              <a:latin typeface="Calibri"/>
              <a:cs typeface="Calibri"/>
            </a:endParaRPr>
          </a:p>
          <a:p>
            <a:pPr marL="2730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(Closed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Hashing)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45229" y="3848100"/>
            <a:ext cx="7223759" cy="1426845"/>
            <a:chOff x="745229" y="3848100"/>
            <a:chExt cx="7223759" cy="1426845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03753" y="4695420"/>
              <a:ext cx="2365236" cy="57916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643625" y="4714875"/>
              <a:ext cx="2286000" cy="500380"/>
            </a:xfrm>
            <a:custGeom>
              <a:avLst/>
              <a:gdLst/>
              <a:ahLst/>
              <a:cxnLst/>
              <a:rect l="l" t="t" r="r" b="b"/>
              <a:pathLst>
                <a:path w="2286000" h="500379">
                  <a:moveTo>
                    <a:pt x="2202560" y="0"/>
                  </a:moveTo>
                  <a:lnTo>
                    <a:pt x="83312" y="0"/>
                  </a:lnTo>
                  <a:lnTo>
                    <a:pt x="50845" y="6552"/>
                  </a:lnTo>
                  <a:lnTo>
                    <a:pt x="24368" y="24415"/>
                  </a:lnTo>
                  <a:lnTo>
                    <a:pt x="6534" y="50899"/>
                  </a:lnTo>
                  <a:lnTo>
                    <a:pt x="0" y="83312"/>
                  </a:lnTo>
                  <a:lnTo>
                    <a:pt x="0" y="416687"/>
                  </a:lnTo>
                  <a:lnTo>
                    <a:pt x="6534" y="449173"/>
                  </a:lnTo>
                  <a:lnTo>
                    <a:pt x="24368" y="475694"/>
                  </a:lnTo>
                  <a:lnTo>
                    <a:pt x="50845" y="493571"/>
                  </a:lnTo>
                  <a:lnTo>
                    <a:pt x="83312" y="500125"/>
                  </a:lnTo>
                  <a:lnTo>
                    <a:pt x="2202560" y="500125"/>
                  </a:lnTo>
                  <a:lnTo>
                    <a:pt x="2235047" y="493571"/>
                  </a:lnTo>
                  <a:lnTo>
                    <a:pt x="2261568" y="475694"/>
                  </a:lnTo>
                  <a:lnTo>
                    <a:pt x="2279445" y="449173"/>
                  </a:lnTo>
                  <a:lnTo>
                    <a:pt x="2286000" y="416687"/>
                  </a:lnTo>
                  <a:lnTo>
                    <a:pt x="2286000" y="83312"/>
                  </a:lnTo>
                  <a:lnTo>
                    <a:pt x="2279445" y="50899"/>
                  </a:lnTo>
                  <a:lnTo>
                    <a:pt x="2261568" y="24415"/>
                  </a:lnTo>
                  <a:lnTo>
                    <a:pt x="2235047" y="6552"/>
                  </a:lnTo>
                  <a:lnTo>
                    <a:pt x="2202560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43625" y="4714875"/>
              <a:ext cx="2286000" cy="500380"/>
            </a:xfrm>
            <a:custGeom>
              <a:avLst/>
              <a:gdLst/>
              <a:ahLst/>
              <a:cxnLst/>
              <a:rect l="l" t="t" r="r" b="b"/>
              <a:pathLst>
                <a:path w="2286000" h="500379">
                  <a:moveTo>
                    <a:pt x="0" y="83312"/>
                  </a:moveTo>
                  <a:lnTo>
                    <a:pt x="6534" y="50899"/>
                  </a:lnTo>
                  <a:lnTo>
                    <a:pt x="24368" y="24415"/>
                  </a:lnTo>
                  <a:lnTo>
                    <a:pt x="50845" y="6552"/>
                  </a:lnTo>
                  <a:lnTo>
                    <a:pt x="83312" y="0"/>
                  </a:lnTo>
                  <a:lnTo>
                    <a:pt x="2202560" y="0"/>
                  </a:lnTo>
                  <a:lnTo>
                    <a:pt x="2235047" y="6552"/>
                  </a:lnTo>
                  <a:lnTo>
                    <a:pt x="2261568" y="24415"/>
                  </a:lnTo>
                  <a:lnTo>
                    <a:pt x="2279445" y="50899"/>
                  </a:lnTo>
                  <a:lnTo>
                    <a:pt x="2286000" y="83312"/>
                  </a:lnTo>
                  <a:lnTo>
                    <a:pt x="2286000" y="416687"/>
                  </a:lnTo>
                  <a:lnTo>
                    <a:pt x="2279445" y="449173"/>
                  </a:lnTo>
                  <a:lnTo>
                    <a:pt x="2261568" y="475694"/>
                  </a:lnTo>
                  <a:lnTo>
                    <a:pt x="2235047" y="493571"/>
                  </a:lnTo>
                  <a:lnTo>
                    <a:pt x="2202560" y="500125"/>
                  </a:lnTo>
                  <a:lnTo>
                    <a:pt x="83312" y="500125"/>
                  </a:lnTo>
                  <a:lnTo>
                    <a:pt x="50845" y="493571"/>
                  </a:lnTo>
                  <a:lnTo>
                    <a:pt x="24368" y="475694"/>
                  </a:lnTo>
                  <a:lnTo>
                    <a:pt x="6534" y="449173"/>
                  </a:lnTo>
                  <a:lnTo>
                    <a:pt x="0" y="416687"/>
                  </a:lnTo>
                  <a:lnTo>
                    <a:pt x="0" y="83312"/>
                  </a:lnTo>
                  <a:close/>
                </a:path>
              </a:pathLst>
            </a:custGeom>
            <a:ln w="12700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5229" y="3909080"/>
              <a:ext cx="2151900" cy="65070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3147" y="3848100"/>
              <a:ext cx="2034539" cy="70408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5787" y="3929126"/>
              <a:ext cx="2071712" cy="5715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85787" y="3929126"/>
              <a:ext cx="2072005" cy="571500"/>
            </a:xfrm>
            <a:custGeom>
              <a:avLst/>
              <a:gdLst/>
              <a:ahLst/>
              <a:cxnLst/>
              <a:rect l="l" t="t" r="r" b="b"/>
              <a:pathLst>
                <a:path w="2072005" h="571500">
                  <a:moveTo>
                    <a:pt x="0" y="95250"/>
                  </a:moveTo>
                  <a:lnTo>
                    <a:pt x="7485" y="58132"/>
                  </a:lnTo>
                  <a:lnTo>
                    <a:pt x="27898" y="27860"/>
                  </a:lnTo>
                  <a:lnTo>
                    <a:pt x="58175" y="7471"/>
                  </a:lnTo>
                  <a:lnTo>
                    <a:pt x="95250" y="0"/>
                  </a:lnTo>
                  <a:lnTo>
                    <a:pt x="1976462" y="0"/>
                  </a:lnTo>
                  <a:lnTo>
                    <a:pt x="2013527" y="7471"/>
                  </a:lnTo>
                  <a:lnTo>
                    <a:pt x="2043804" y="27860"/>
                  </a:lnTo>
                  <a:lnTo>
                    <a:pt x="2064223" y="58132"/>
                  </a:lnTo>
                  <a:lnTo>
                    <a:pt x="2071712" y="95250"/>
                  </a:lnTo>
                  <a:lnTo>
                    <a:pt x="2071712" y="476250"/>
                  </a:lnTo>
                  <a:lnTo>
                    <a:pt x="2064223" y="513314"/>
                  </a:lnTo>
                  <a:lnTo>
                    <a:pt x="2043804" y="543591"/>
                  </a:lnTo>
                  <a:lnTo>
                    <a:pt x="2013527" y="564010"/>
                  </a:lnTo>
                  <a:lnTo>
                    <a:pt x="1976462" y="571500"/>
                  </a:lnTo>
                  <a:lnTo>
                    <a:pt x="95250" y="571500"/>
                  </a:lnTo>
                  <a:lnTo>
                    <a:pt x="58175" y="564010"/>
                  </a:lnTo>
                  <a:lnTo>
                    <a:pt x="27898" y="543591"/>
                  </a:lnTo>
                  <a:lnTo>
                    <a:pt x="7485" y="513314"/>
                  </a:lnTo>
                  <a:lnTo>
                    <a:pt x="0" y="476250"/>
                  </a:lnTo>
                  <a:lnTo>
                    <a:pt x="0" y="95250"/>
                  </a:lnTo>
                  <a:close/>
                </a:path>
              </a:pathLst>
            </a:custGeom>
            <a:ln w="12700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70889" y="3913378"/>
            <a:ext cx="1699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1445" marR="5080" indent="-1193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Separate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Chaining </a:t>
            </a:r>
            <a:r>
              <a:rPr sz="1800" dirty="0">
                <a:latin typeface="Calibri"/>
                <a:cs typeface="Calibri"/>
              </a:rPr>
              <a:t>(Open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Hashing)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663445" y="3500501"/>
            <a:ext cx="6346825" cy="3275329"/>
            <a:chOff x="1663445" y="3500501"/>
            <a:chExt cx="6346825" cy="3275329"/>
          </a:xfrm>
        </p:grpSpPr>
        <p:sp>
          <p:nvSpPr>
            <p:cNvPr id="26" name="object 26"/>
            <p:cNvSpPr/>
            <p:nvPr/>
          </p:nvSpPr>
          <p:spPr>
            <a:xfrm>
              <a:off x="1714499" y="3714750"/>
              <a:ext cx="4857750" cy="1905"/>
            </a:xfrm>
            <a:custGeom>
              <a:avLst/>
              <a:gdLst/>
              <a:ahLst/>
              <a:cxnLst/>
              <a:rect l="l" t="t" r="r" b="b"/>
              <a:pathLst>
                <a:path w="4857750" h="1904">
                  <a:moveTo>
                    <a:pt x="0" y="0"/>
                  </a:moveTo>
                  <a:lnTo>
                    <a:pt x="4857750" y="1650"/>
                  </a:lnTo>
                </a:path>
              </a:pathLst>
            </a:custGeom>
            <a:ln w="12700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20433" y="3715639"/>
              <a:ext cx="103377" cy="21424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3445" y="3714750"/>
              <a:ext cx="103378" cy="21437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35195" y="3500501"/>
              <a:ext cx="103377" cy="21424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03753" y="5413248"/>
              <a:ext cx="2365236" cy="57607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643625" y="5429250"/>
              <a:ext cx="2286000" cy="500380"/>
            </a:xfrm>
            <a:custGeom>
              <a:avLst/>
              <a:gdLst/>
              <a:ahLst/>
              <a:cxnLst/>
              <a:rect l="l" t="t" r="r" b="b"/>
              <a:pathLst>
                <a:path w="2286000" h="500379">
                  <a:moveTo>
                    <a:pt x="2202560" y="0"/>
                  </a:moveTo>
                  <a:lnTo>
                    <a:pt x="83312" y="0"/>
                  </a:lnTo>
                  <a:lnTo>
                    <a:pt x="50845" y="6552"/>
                  </a:lnTo>
                  <a:lnTo>
                    <a:pt x="24368" y="24415"/>
                  </a:lnTo>
                  <a:lnTo>
                    <a:pt x="6534" y="50899"/>
                  </a:lnTo>
                  <a:lnTo>
                    <a:pt x="0" y="83312"/>
                  </a:lnTo>
                  <a:lnTo>
                    <a:pt x="0" y="416737"/>
                  </a:lnTo>
                  <a:lnTo>
                    <a:pt x="6534" y="449175"/>
                  </a:lnTo>
                  <a:lnTo>
                    <a:pt x="24368" y="475665"/>
                  </a:lnTo>
                  <a:lnTo>
                    <a:pt x="50845" y="493525"/>
                  </a:lnTo>
                  <a:lnTo>
                    <a:pt x="83312" y="500075"/>
                  </a:lnTo>
                  <a:lnTo>
                    <a:pt x="2202560" y="500075"/>
                  </a:lnTo>
                  <a:lnTo>
                    <a:pt x="2235047" y="493525"/>
                  </a:lnTo>
                  <a:lnTo>
                    <a:pt x="2261568" y="475665"/>
                  </a:lnTo>
                  <a:lnTo>
                    <a:pt x="2279445" y="449175"/>
                  </a:lnTo>
                  <a:lnTo>
                    <a:pt x="2286000" y="416737"/>
                  </a:lnTo>
                  <a:lnTo>
                    <a:pt x="2286000" y="83312"/>
                  </a:lnTo>
                  <a:lnTo>
                    <a:pt x="2279445" y="50899"/>
                  </a:lnTo>
                  <a:lnTo>
                    <a:pt x="2261568" y="24415"/>
                  </a:lnTo>
                  <a:lnTo>
                    <a:pt x="2235047" y="6552"/>
                  </a:lnTo>
                  <a:lnTo>
                    <a:pt x="2202560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643625" y="5429250"/>
              <a:ext cx="2286000" cy="500380"/>
            </a:xfrm>
            <a:custGeom>
              <a:avLst/>
              <a:gdLst/>
              <a:ahLst/>
              <a:cxnLst/>
              <a:rect l="l" t="t" r="r" b="b"/>
              <a:pathLst>
                <a:path w="2286000" h="500379">
                  <a:moveTo>
                    <a:pt x="0" y="83312"/>
                  </a:moveTo>
                  <a:lnTo>
                    <a:pt x="6534" y="50899"/>
                  </a:lnTo>
                  <a:lnTo>
                    <a:pt x="24368" y="24415"/>
                  </a:lnTo>
                  <a:lnTo>
                    <a:pt x="50845" y="6552"/>
                  </a:lnTo>
                  <a:lnTo>
                    <a:pt x="83312" y="0"/>
                  </a:lnTo>
                  <a:lnTo>
                    <a:pt x="2202560" y="0"/>
                  </a:lnTo>
                  <a:lnTo>
                    <a:pt x="2235047" y="6552"/>
                  </a:lnTo>
                  <a:lnTo>
                    <a:pt x="2261568" y="24415"/>
                  </a:lnTo>
                  <a:lnTo>
                    <a:pt x="2279445" y="50899"/>
                  </a:lnTo>
                  <a:lnTo>
                    <a:pt x="2286000" y="83312"/>
                  </a:lnTo>
                  <a:lnTo>
                    <a:pt x="2286000" y="416737"/>
                  </a:lnTo>
                  <a:lnTo>
                    <a:pt x="2279445" y="449175"/>
                  </a:lnTo>
                  <a:lnTo>
                    <a:pt x="2261568" y="475665"/>
                  </a:lnTo>
                  <a:lnTo>
                    <a:pt x="2235047" y="493525"/>
                  </a:lnTo>
                  <a:lnTo>
                    <a:pt x="2202560" y="500075"/>
                  </a:lnTo>
                  <a:lnTo>
                    <a:pt x="83312" y="500075"/>
                  </a:lnTo>
                  <a:lnTo>
                    <a:pt x="50845" y="493525"/>
                  </a:lnTo>
                  <a:lnTo>
                    <a:pt x="24368" y="475665"/>
                  </a:lnTo>
                  <a:lnTo>
                    <a:pt x="6534" y="449175"/>
                  </a:lnTo>
                  <a:lnTo>
                    <a:pt x="0" y="416737"/>
                  </a:lnTo>
                  <a:lnTo>
                    <a:pt x="0" y="83312"/>
                  </a:lnTo>
                  <a:close/>
                </a:path>
              </a:pathLst>
            </a:custGeom>
            <a:ln w="12700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44901" y="6195058"/>
              <a:ext cx="2365236" cy="58064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684519" y="6215075"/>
              <a:ext cx="2286000" cy="500380"/>
            </a:xfrm>
            <a:custGeom>
              <a:avLst/>
              <a:gdLst/>
              <a:ahLst/>
              <a:cxnLst/>
              <a:rect l="l" t="t" r="r" b="b"/>
              <a:pathLst>
                <a:path w="2286000" h="500379">
                  <a:moveTo>
                    <a:pt x="2202687" y="0"/>
                  </a:moveTo>
                  <a:lnTo>
                    <a:pt x="83312" y="0"/>
                  </a:lnTo>
                  <a:lnTo>
                    <a:pt x="50899" y="6551"/>
                  </a:lnTo>
                  <a:lnTo>
                    <a:pt x="24415" y="24415"/>
                  </a:lnTo>
                  <a:lnTo>
                    <a:pt x="6552" y="50909"/>
                  </a:lnTo>
                  <a:lnTo>
                    <a:pt x="0" y="83350"/>
                  </a:lnTo>
                  <a:lnTo>
                    <a:pt x="0" y="416725"/>
                  </a:lnTo>
                  <a:lnTo>
                    <a:pt x="6552" y="449170"/>
                  </a:lnTo>
                  <a:lnTo>
                    <a:pt x="24415" y="475664"/>
                  </a:lnTo>
                  <a:lnTo>
                    <a:pt x="50899" y="493525"/>
                  </a:lnTo>
                  <a:lnTo>
                    <a:pt x="83312" y="500075"/>
                  </a:lnTo>
                  <a:lnTo>
                    <a:pt x="2202687" y="500075"/>
                  </a:lnTo>
                  <a:lnTo>
                    <a:pt x="2235100" y="493525"/>
                  </a:lnTo>
                  <a:lnTo>
                    <a:pt x="2261584" y="475664"/>
                  </a:lnTo>
                  <a:lnTo>
                    <a:pt x="2279447" y="449170"/>
                  </a:lnTo>
                  <a:lnTo>
                    <a:pt x="2286000" y="416725"/>
                  </a:lnTo>
                  <a:lnTo>
                    <a:pt x="2286000" y="83350"/>
                  </a:lnTo>
                  <a:lnTo>
                    <a:pt x="2279447" y="50909"/>
                  </a:lnTo>
                  <a:lnTo>
                    <a:pt x="2261584" y="24415"/>
                  </a:lnTo>
                  <a:lnTo>
                    <a:pt x="2235100" y="6551"/>
                  </a:lnTo>
                  <a:lnTo>
                    <a:pt x="2202687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684519" y="6215075"/>
              <a:ext cx="2286000" cy="500380"/>
            </a:xfrm>
            <a:custGeom>
              <a:avLst/>
              <a:gdLst/>
              <a:ahLst/>
              <a:cxnLst/>
              <a:rect l="l" t="t" r="r" b="b"/>
              <a:pathLst>
                <a:path w="2286000" h="500379">
                  <a:moveTo>
                    <a:pt x="0" y="83350"/>
                  </a:moveTo>
                  <a:lnTo>
                    <a:pt x="6552" y="50909"/>
                  </a:lnTo>
                  <a:lnTo>
                    <a:pt x="24415" y="24415"/>
                  </a:lnTo>
                  <a:lnTo>
                    <a:pt x="50899" y="6551"/>
                  </a:lnTo>
                  <a:lnTo>
                    <a:pt x="83312" y="0"/>
                  </a:lnTo>
                  <a:lnTo>
                    <a:pt x="2202687" y="0"/>
                  </a:lnTo>
                  <a:lnTo>
                    <a:pt x="2235100" y="6551"/>
                  </a:lnTo>
                  <a:lnTo>
                    <a:pt x="2261584" y="24415"/>
                  </a:lnTo>
                  <a:lnTo>
                    <a:pt x="2279447" y="50909"/>
                  </a:lnTo>
                  <a:lnTo>
                    <a:pt x="2286000" y="83350"/>
                  </a:lnTo>
                  <a:lnTo>
                    <a:pt x="2286000" y="416725"/>
                  </a:lnTo>
                  <a:lnTo>
                    <a:pt x="2279447" y="449170"/>
                  </a:lnTo>
                  <a:lnTo>
                    <a:pt x="2261584" y="475664"/>
                  </a:lnTo>
                  <a:lnTo>
                    <a:pt x="2235100" y="493525"/>
                  </a:lnTo>
                  <a:lnTo>
                    <a:pt x="2202687" y="500075"/>
                  </a:lnTo>
                  <a:lnTo>
                    <a:pt x="83312" y="500075"/>
                  </a:lnTo>
                  <a:lnTo>
                    <a:pt x="50899" y="493525"/>
                  </a:lnTo>
                  <a:lnTo>
                    <a:pt x="24415" y="475664"/>
                  </a:lnTo>
                  <a:lnTo>
                    <a:pt x="6552" y="449170"/>
                  </a:lnTo>
                  <a:lnTo>
                    <a:pt x="0" y="416725"/>
                  </a:lnTo>
                  <a:lnTo>
                    <a:pt x="0" y="83350"/>
                  </a:lnTo>
                  <a:close/>
                </a:path>
              </a:pathLst>
            </a:custGeom>
            <a:ln w="12700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935217" y="4800727"/>
            <a:ext cx="1704339" cy="1800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Linear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Probing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Quadratic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Probing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endParaRPr sz="1800">
              <a:latin typeface="Calibri"/>
              <a:cs typeface="Calibri"/>
            </a:endParaRPr>
          </a:p>
          <a:p>
            <a:pPr marL="16129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Double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Hashing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422900" y="4422775"/>
            <a:ext cx="220979" cy="2084705"/>
            <a:chOff x="5422900" y="4422775"/>
            <a:chExt cx="220979" cy="2084705"/>
          </a:xfrm>
        </p:grpSpPr>
        <p:sp>
          <p:nvSpPr>
            <p:cNvPr id="38" name="object 38"/>
            <p:cNvSpPr/>
            <p:nvPr/>
          </p:nvSpPr>
          <p:spPr>
            <a:xfrm>
              <a:off x="5429250" y="4429125"/>
              <a:ext cx="71755" cy="2072005"/>
            </a:xfrm>
            <a:custGeom>
              <a:avLst/>
              <a:gdLst/>
              <a:ahLst/>
              <a:cxnLst/>
              <a:rect l="l" t="t" r="r" b="b"/>
              <a:pathLst>
                <a:path w="71754" h="2072004">
                  <a:moveTo>
                    <a:pt x="0" y="0"/>
                  </a:moveTo>
                  <a:lnTo>
                    <a:pt x="71500" y="2071712"/>
                  </a:lnTo>
                </a:path>
              </a:pathLst>
            </a:custGeom>
            <a:ln w="12700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499100" y="4936236"/>
              <a:ext cx="144525" cy="10033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499100" y="5686336"/>
              <a:ext cx="144525" cy="10031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499100" y="6400723"/>
              <a:ext cx="144525" cy="1003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901189">
              <a:lnSpc>
                <a:spcPct val="100000"/>
              </a:lnSpc>
              <a:spcBef>
                <a:spcPts val="105"/>
              </a:spcBef>
            </a:pPr>
            <a:r>
              <a:rPr dirty="0"/>
              <a:t>Separate</a:t>
            </a:r>
            <a:r>
              <a:rPr spc="-250" dirty="0"/>
              <a:t> </a:t>
            </a:r>
            <a:r>
              <a:rPr spc="-10" dirty="0"/>
              <a:t>Chaining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6973"/>
            <a:ext cx="7744459" cy="351853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135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handle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collision,</a:t>
            </a:r>
            <a:endParaRPr sz="3200">
              <a:latin typeface="Calibri"/>
              <a:cs typeface="Calibri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This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technique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creates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linked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slot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 	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collision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occurs.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new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inserted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linked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list.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These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linked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slots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appear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like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chains.</a:t>
            </a:r>
            <a:endParaRPr sz="2800">
              <a:latin typeface="Calibri"/>
              <a:cs typeface="Calibri"/>
            </a:endParaRPr>
          </a:p>
          <a:p>
            <a:pPr marL="756285" marR="18351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That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why,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technique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separate chaining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85598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Example-</a:t>
            </a:r>
            <a:r>
              <a:rPr spc="-10" dirty="0"/>
              <a:t>Separate</a:t>
            </a:r>
            <a:r>
              <a:rPr spc="-145" dirty="0"/>
              <a:t> </a:t>
            </a:r>
            <a:r>
              <a:rPr spc="-10" dirty="0"/>
              <a:t>Chaining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20050" cy="1587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Using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hash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‘key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90" dirty="0">
                <a:latin typeface="Calibri"/>
                <a:cs typeface="Calibri"/>
              </a:rPr>
              <a:t>7’,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insert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following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sequence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keys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hash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table-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50,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700,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76,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85,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92,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73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101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30353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Step-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0506"/>
            <a:ext cx="7969250" cy="17087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Draw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table.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possible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range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values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[0,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6].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So,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draw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consisting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buckets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as-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9448" y="3943350"/>
            <a:ext cx="1295400" cy="241935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321691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Step-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/>
              <a:t>Insert</a:t>
            </a:r>
            <a:r>
              <a:rPr sz="2400" spc="-60" dirty="0"/>
              <a:t> </a:t>
            </a:r>
            <a:r>
              <a:rPr sz="2400" dirty="0"/>
              <a:t>the</a:t>
            </a:r>
            <a:r>
              <a:rPr sz="2400" spc="-60" dirty="0"/>
              <a:t> </a:t>
            </a:r>
            <a:r>
              <a:rPr sz="2400" dirty="0"/>
              <a:t>given</a:t>
            </a:r>
            <a:r>
              <a:rPr sz="2400" spc="-45" dirty="0"/>
              <a:t> </a:t>
            </a:r>
            <a:r>
              <a:rPr sz="2400" spc="-10" dirty="0"/>
              <a:t>keys</a:t>
            </a:r>
            <a:r>
              <a:rPr sz="2400" spc="-75" dirty="0"/>
              <a:t> </a:t>
            </a:r>
            <a:r>
              <a:rPr sz="2400" dirty="0"/>
              <a:t>in</a:t>
            </a:r>
            <a:r>
              <a:rPr sz="2400" spc="-55" dirty="0"/>
              <a:t> </a:t>
            </a:r>
            <a:r>
              <a:rPr sz="2400" dirty="0"/>
              <a:t>the</a:t>
            </a:r>
            <a:r>
              <a:rPr sz="2400" spc="-55" dirty="0"/>
              <a:t> </a:t>
            </a:r>
            <a:r>
              <a:rPr sz="2400" dirty="0"/>
              <a:t>hash</a:t>
            </a:r>
            <a:r>
              <a:rPr sz="2400" spc="-55" dirty="0"/>
              <a:t> </a:t>
            </a:r>
            <a:r>
              <a:rPr sz="2400" dirty="0"/>
              <a:t>table</a:t>
            </a:r>
            <a:r>
              <a:rPr sz="2400" spc="-60" dirty="0"/>
              <a:t> </a:t>
            </a:r>
            <a:r>
              <a:rPr sz="2400" dirty="0"/>
              <a:t>one</a:t>
            </a:r>
            <a:r>
              <a:rPr sz="2400" spc="-50" dirty="0"/>
              <a:t> </a:t>
            </a:r>
            <a:r>
              <a:rPr sz="2400" dirty="0"/>
              <a:t>by</a:t>
            </a:r>
            <a:r>
              <a:rPr sz="2400" spc="-50" dirty="0"/>
              <a:t> </a:t>
            </a:r>
            <a:r>
              <a:rPr sz="2400" spc="-20" dirty="0"/>
              <a:t>one.</a:t>
            </a:r>
            <a:endParaRPr sz="2400"/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/>
              <a:t>The</a:t>
            </a:r>
            <a:r>
              <a:rPr sz="2400" spc="-45" dirty="0"/>
              <a:t> </a:t>
            </a:r>
            <a:r>
              <a:rPr sz="2400" dirty="0"/>
              <a:t>first</a:t>
            </a:r>
            <a:r>
              <a:rPr sz="2400" spc="-60" dirty="0"/>
              <a:t> </a:t>
            </a:r>
            <a:r>
              <a:rPr sz="2400" spc="-10" dirty="0"/>
              <a:t>key</a:t>
            </a:r>
            <a:r>
              <a:rPr sz="2400" spc="-75" dirty="0"/>
              <a:t> </a:t>
            </a:r>
            <a:r>
              <a:rPr sz="2400" dirty="0"/>
              <a:t>to</a:t>
            </a:r>
            <a:r>
              <a:rPr sz="2400" spc="-55" dirty="0"/>
              <a:t> </a:t>
            </a:r>
            <a:r>
              <a:rPr sz="2400" dirty="0"/>
              <a:t>be</a:t>
            </a:r>
            <a:r>
              <a:rPr sz="2400" spc="-40" dirty="0"/>
              <a:t> </a:t>
            </a:r>
            <a:r>
              <a:rPr sz="2400" dirty="0"/>
              <a:t>inserted</a:t>
            </a:r>
            <a:r>
              <a:rPr sz="2400" spc="-55" dirty="0"/>
              <a:t> </a:t>
            </a:r>
            <a:r>
              <a:rPr sz="2400" dirty="0"/>
              <a:t>in</a:t>
            </a:r>
            <a:r>
              <a:rPr sz="2400" spc="-50" dirty="0"/>
              <a:t> </a:t>
            </a:r>
            <a:r>
              <a:rPr sz="2400" dirty="0"/>
              <a:t>the</a:t>
            </a:r>
            <a:r>
              <a:rPr sz="2400" spc="-40" dirty="0"/>
              <a:t> </a:t>
            </a:r>
            <a:r>
              <a:rPr sz="2400" dirty="0"/>
              <a:t>hash</a:t>
            </a:r>
            <a:r>
              <a:rPr sz="2400" spc="-45" dirty="0"/>
              <a:t> </a:t>
            </a:r>
            <a:r>
              <a:rPr sz="2400" dirty="0"/>
              <a:t>table</a:t>
            </a:r>
            <a:r>
              <a:rPr sz="2400" spc="-55" dirty="0"/>
              <a:t> </a:t>
            </a:r>
            <a:r>
              <a:rPr sz="2400" dirty="0"/>
              <a:t>=</a:t>
            </a:r>
            <a:r>
              <a:rPr sz="2400" spc="-45" dirty="0"/>
              <a:t> </a:t>
            </a:r>
            <a:r>
              <a:rPr sz="2400" spc="-25" dirty="0"/>
              <a:t>50.</a:t>
            </a:r>
            <a:endParaRPr sz="2400"/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0" dirty="0"/>
              <a:t>Bucket</a:t>
            </a:r>
            <a:r>
              <a:rPr sz="2400" spc="-90" dirty="0"/>
              <a:t> </a:t>
            </a:r>
            <a:r>
              <a:rPr sz="2400" dirty="0"/>
              <a:t>of</a:t>
            </a:r>
            <a:r>
              <a:rPr sz="2400" spc="-30" dirty="0"/>
              <a:t> </a:t>
            </a:r>
            <a:r>
              <a:rPr sz="2400" dirty="0"/>
              <a:t>the</a:t>
            </a:r>
            <a:r>
              <a:rPr sz="2400" spc="-25" dirty="0"/>
              <a:t> </a:t>
            </a:r>
            <a:r>
              <a:rPr sz="2400" dirty="0"/>
              <a:t>hash</a:t>
            </a:r>
            <a:r>
              <a:rPr sz="2400" spc="-35" dirty="0"/>
              <a:t> </a:t>
            </a:r>
            <a:r>
              <a:rPr sz="2400" dirty="0"/>
              <a:t>table</a:t>
            </a:r>
            <a:r>
              <a:rPr sz="2400" spc="-40" dirty="0"/>
              <a:t> </a:t>
            </a:r>
            <a:r>
              <a:rPr sz="2400" dirty="0"/>
              <a:t>to</a:t>
            </a:r>
            <a:r>
              <a:rPr sz="2400" spc="-50" dirty="0"/>
              <a:t> </a:t>
            </a:r>
            <a:r>
              <a:rPr sz="2400" dirty="0"/>
              <a:t>which</a:t>
            </a:r>
            <a:r>
              <a:rPr sz="2400" spc="-45" dirty="0"/>
              <a:t> </a:t>
            </a:r>
            <a:r>
              <a:rPr sz="2400" dirty="0"/>
              <a:t>key</a:t>
            </a:r>
            <a:r>
              <a:rPr sz="2400" spc="-45" dirty="0"/>
              <a:t> </a:t>
            </a:r>
            <a:r>
              <a:rPr sz="2400" dirty="0"/>
              <a:t>50</a:t>
            </a:r>
            <a:r>
              <a:rPr sz="2400" spc="-40" dirty="0"/>
              <a:t> </a:t>
            </a:r>
            <a:r>
              <a:rPr sz="2400" dirty="0"/>
              <a:t>maps</a:t>
            </a:r>
            <a:r>
              <a:rPr sz="2400" spc="-50" dirty="0"/>
              <a:t> </a:t>
            </a:r>
            <a:r>
              <a:rPr sz="2400" dirty="0"/>
              <a:t>=</a:t>
            </a:r>
            <a:r>
              <a:rPr sz="2400" spc="-30" dirty="0"/>
              <a:t> </a:t>
            </a:r>
            <a:r>
              <a:rPr sz="2400" dirty="0"/>
              <a:t>50</a:t>
            </a:r>
            <a:r>
              <a:rPr sz="2400" spc="-40" dirty="0"/>
              <a:t> </a:t>
            </a:r>
            <a:r>
              <a:rPr sz="2400" dirty="0"/>
              <a:t>mod</a:t>
            </a:r>
            <a:r>
              <a:rPr sz="2400" spc="-50" dirty="0"/>
              <a:t> </a:t>
            </a:r>
            <a:r>
              <a:rPr sz="2400" dirty="0"/>
              <a:t>7</a:t>
            </a:r>
            <a:r>
              <a:rPr sz="2400" spc="-35" dirty="0"/>
              <a:t> </a:t>
            </a:r>
            <a:r>
              <a:rPr sz="2400" dirty="0"/>
              <a:t>=</a:t>
            </a:r>
            <a:r>
              <a:rPr sz="2400" spc="-35" dirty="0"/>
              <a:t> </a:t>
            </a:r>
            <a:r>
              <a:rPr sz="2400" spc="-25" dirty="0"/>
              <a:t>1.</a:t>
            </a:r>
            <a:endParaRPr sz="2400"/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/>
              <a:t>So,</a:t>
            </a:r>
            <a:r>
              <a:rPr sz="2400" spc="-55" dirty="0"/>
              <a:t> </a:t>
            </a:r>
            <a:r>
              <a:rPr sz="2400" dirty="0"/>
              <a:t>key</a:t>
            </a:r>
            <a:r>
              <a:rPr sz="2400" spc="-65" dirty="0"/>
              <a:t> </a:t>
            </a:r>
            <a:r>
              <a:rPr sz="2400" dirty="0"/>
              <a:t>50</a:t>
            </a:r>
            <a:r>
              <a:rPr sz="2400" spc="-45" dirty="0"/>
              <a:t> </a:t>
            </a:r>
            <a:r>
              <a:rPr sz="2400" dirty="0"/>
              <a:t>will</a:t>
            </a:r>
            <a:r>
              <a:rPr sz="2400" spc="-55" dirty="0"/>
              <a:t> </a:t>
            </a:r>
            <a:r>
              <a:rPr sz="2400" dirty="0"/>
              <a:t>be</a:t>
            </a:r>
            <a:r>
              <a:rPr sz="2400" spc="-35" dirty="0"/>
              <a:t> </a:t>
            </a:r>
            <a:r>
              <a:rPr sz="2400" dirty="0"/>
              <a:t>inserted</a:t>
            </a:r>
            <a:r>
              <a:rPr sz="2400" spc="-45" dirty="0"/>
              <a:t> </a:t>
            </a:r>
            <a:r>
              <a:rPr sz="2400" dirty="0"/>
              <a:t>in</a:t>
            </a:r>
            <a:r>
              <a:rPr sz="2400" spc="-40" dirty="0"/>
              <a:t> </a:t>
            </a:r>
            <a:r>
              <a:rPr sz="2400" spc="-25" dirty="0"/>
              <a:t>bucket-</a:t>
            </a:r>
            <a:r>
              <a:rPr sz="2400" dirty="0"/>
              <a:t>1</a:t>
            </a:r>
            <a:r>
              <a:rPr sz="2400" spc="-70" dirty="0"/>
              <a:t> </a:t>
            </a:r>
            <a:r>
              <a:rPr sz="2400" dirty="0"/>
              <a:t>of</a:t>
            </a:r>
            <a:r>
              <a:rPr sz="2400" spc="-40" dirty="0"/>
              <a:t> </a:t>
            </a:r>
            <a:r>
              <a:rPr sz="2400" dirty="0"/>
              <a:t>the</a:t>
            </a:r>
            <a:r>
              <a:rPr sz="2400" spc="-30" dirty="0"/>
              <a:t> </a:t>
            </a:r>
            <a:r>
              <a:rPr sz="2400" dirty="0"/>
              <a:t>hash</a:t>
            </a:r>
            <a:r>
              <a:rPr sz="2400" spc="-45" dirty="0"/>
              <a:t> </a:t>
            </a:r>
            <a:r>
              <a:rPr sz="2400" dirty="0"/>
              <a:t>table</a:t>
            </a:r>
            <a:r>
              <a:rPr sz="2400" spc="-45" dirty="0"/>
              <a:t> </a:t>
            </a:r>
            <a:r>
              <a:rPr sz="2400" spc="-25" dirty="0"/>
              <a:t>as-</a:t>
            </a:r>
            <a:endParaRPr sz="2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0848" y="3952875"/>
            <a:ext cx="1295400" cy="2409825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321691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Step-</a:t>
            </a:r>
            <a:r>
              <a:rPr spc="-50"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6359"/>
            <a:ext cx="7045959" cy="112331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next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key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inserted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700.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</a:tabLst>
            </a:pPr>
            <a:r>
              <a:rPr sz="2000" spc="-10" dirty="0">
                <a:latin typeface="Calibri"/>
                <a:cs typeface="Calibri"/>
              </a:rPr>
              <a:t>Bucket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key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700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maps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700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7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0.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So,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key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700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inserted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5" dirty="0">
                <a:latin typeface="Calibri"/>
                <a:cs typeface="Calibri"/>
              </a:rPr>
              <a:t> bucket-</a:t>
            </a:r>
            <a:r>
              <a:rPr sz="2000" dirty="0">
                <a:latin typeface="Calibri"/>
                <a:cs typeface="Calibri"/>
              </a:rPr>
              <a:t>0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as-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0373" y="3514725"/>
            <a:ext cx="1295400" cy="241935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321691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Step-</a:t>
            </a:r>
            <a:r>
              <a:rPr spc="-50"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0506"/>
            <a:ext cx="8054975" cy="13430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inserted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76.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Bucket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76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76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6.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So,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76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inserted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bucket-</a:t>
            </a:r>
            <a:r>
              <a:rPr sz="2400" dirty="0">
                <a:latin typeface="Calibri"/>
                <a:cs typeface="Calibri"/>
              </a:rPr>
              <a:t>6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as-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5225" y="3509962"/>
            <a:ext cx="1295400" cy="241935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321691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Step-</a:t>
            </a:r>
            <a:r>
              <a:rPr spc="-50" dirty="0"/>
              <a:t>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3370"/>
            <a:ext cx="7306309" cy="167195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next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inserted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85.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Bucket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85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maps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85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7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Since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bucket-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already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occupied, so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collision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occurs.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Separate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chaining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handles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collision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linked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bucket-</a:t>
            </a:r>
            <a:r>
              <a:rPr sz="1800" spc="-25" dirty="0">
                <a:latin typeface="Calibri"/>
                <a:cs typeface="Calibri"/>
              </a:rPr>
              <a:t>1.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So,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85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inserted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bucket-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as-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1325" y="3724275"/>
            <a:ext cx="2838450" cy="241935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321691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Step-</a:t>
            </a:r>
            <a:r>
              <a:rPr spc="-50" dirty="0"/>
              <a:t>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3370"/>
            <a:ext cx="7306309" cy="167195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next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inserted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92.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Bucket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92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maps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92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7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Since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bucket-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already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occupied, so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collision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occurs.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Separate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chaining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handles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collision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linked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bucket-</a:t>
            </a:r>
            <a:r>
              <a:rPr sz="1800" spc="-25" dirty="0">
                <a:latin typeface="Calibri"/>
                <a:cs typeface="Calibri"/>
              </a:rPr>
              <a:t>1.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So,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92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inserted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bucket-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as-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4973" y="3767137"/>
            <a:ext cx="4381500" cy="241935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321691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Step-</a:t>
            </a:r>
            <a:r>
              <a:rPr spc="-50" dirty="0"/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3370"/>
            <a:ext cx="7306309" cy="167195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next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inserted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101.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Bucket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101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maps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101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7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3.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Since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bucket-</a:t>
            </a:r>
            <a:r>
              <a:rPr sz="1800" dirty="0">
                <a:latin typeface="Calibri"/>
                <a:cs typeface="Calibri"/>
              </a:rPr>
              <a:t>3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already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occupied, so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collision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occurs.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Separate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chaining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handles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collision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linked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bucket-</a:t>
            </a:r>
            <a:r>
              <a:rPr sz="1800" spc="-25" dirty="0">
                <a:latin typeface="Calibri"/>
                <a:cs typeface="Calibri"/>
              </a:rPr>
              <a:t>3.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So,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101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inserted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bucket-</a:t>
            </a:r>
            <a:r>
              <a:rPr sz="1800" dirty="0">
                <a:latin typeface="Calibri"/>
                <a:cs typeface="Calibri"/>
              </a:rPr>
              <a:t>3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as-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4973" y="3776662"/>
            <a:ext cx="4381500" cy="241935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018664">
              <a:lnSpc>
                <a:spcPct val="100000"/>
              </a:lnSpc>
              <a:spcBef>
                <a:spcPts val="105"/>
              </a:spcBef>
            </a:pPr>
            <a:r>
              <a:rPr dirty="0"/>
              <a:t>Open</a:t>
            </a:r>
            <a:r>
              <a:rPr spc="-25" dirty="0"/>
              <a:t> </a:t>
            </a:r>
            <a:r>
              <a:rPr spc="-10" dirty="0"/>
              <a:t>Addressing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7061"/>
            <a:ext cx="7611745" cy="437261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In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open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addressing,</a:t>
            </a:r>
            <a:endParaRPr sz="3200">
              <a:latin typeface="Calibri"/>
              <a:cs typeface="Calibri"/>
            </a:endParaRPr>
          </a:p>
          <a:p>
            <a:pPr marL="755015" marR="5080" lvl="1" indent="-285750">
              <a:lnSpc>
                <a:spcPts val="3020"/>
              </a:lnSpc>
              <a:spcBef>
                <a:spcPts val="740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Unlike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separate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chaining,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stored 	</a:t>
            </a:r>
            <a:r>
              <a:rPr sz="2800" dirty="0">
                <a:latin typeface="Calibri"/>
                <a:cs typeface="Calibri"/>
              </a:rPr>
              <a:t>inside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table.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95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stored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outside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table.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75"/>
              </a:spcBef>
              <a:buFont typeface="Arial"/>
              <a:buChar char="–"/>
            </a:pP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3200" spc="-30" dirty="0">
                <a:latin typeface="Calibri"/>
                <a:cs typeface="Calibri"/>
              </a:rPr>
              <a:t>Techniques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used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open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addressing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are-</a:t>
            </a:r>
            <a:endParaRPr sz="32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55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Linear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Probing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35"/>
              </a:spcBef>
              <a:buFont typeface="Arial"/>
              <a:buChar char="–"/>
              <a:tabLst>
                <a:tab pos="756285" algn="l"/>
              </a:tabLst>
            </a:pPr>
            <a:r>
              <a:rPr sz="2800" spc="-10" dirty="0">
                <a:latin typeface="Calibri"/>
                <a:cs typeface="Calibri"/>
              </a:rPr>
              <a:t>Quadratic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Probing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40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Double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Hashing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42481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Operations</a:t>
            </a:r>
            <a:r>
              <a:rPr spc="-75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Open</a:t>
            </a:r>
            <a:r>
              <a:rPr spc="-50" dirty="0"/>
              <a:t> </a:t>
            </a:r>
            <a:r>
              <a:rPr spc="-10" dirty="0"/>
              <a:t>Addressing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6794"/>
            <a:ext cx="7965440" cy="4332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Insert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Operation:</a:t>
            </a:r>
            <a:endParaRPr sz="3000">
              <a:latin typeface="Calibri"/>
              <a:cs typeface="Calibri"/>
            </a:endParaRPr>
          </a:p>
          <a:p>
            <a:pPr marL="756285" marR="11430" lvl="1" indent="-287020">
              <a:lnSpc>
                <a:spcPct val="80000"/>
              </a:lnSpc>
              <a:spcBef>
                <a:spcPts val="64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Hash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compute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key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inserted.</a:t>
            </a:r>
            <a:endParaRPr sz="2600">
              <a:latin typeface="Calibri"/>
              <a:cs typeface="Calibri"/>
            </a:endParaRPr>
          </a:p>
          <a:p>
            <a:pPr marL="756285" marR="5080" lvl="1" indent="-287020">
              <a:lnSpc>
                <a:spcPct val="80000"/>
              </a:lnSpc>
              <a:spcBef>
                <a:spcPts val="62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Hash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index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store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key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in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hash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table.</a:t>
            </a:r>
            <a:endParaRPr sz="2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09"/>
              </a:spcBef>
              <a:buFont typeface="Arial"/>
              <a:buChar char="–"/>
            </a:pPr>
            <a:endParaRPr sz="2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In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case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collision,</a:t>
            </a:r>
            <a:endParaRPr sz="3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Probing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performed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until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empty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bucket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found.</a:t>
            </a:r>
            <a:endParaRPr sz="26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Once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empty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bucket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found,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key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inserted.</a:t>
            </a:r>
            <a:endParaRPr sz="2600">
              <a:latin typeface="Calibri"/>
              <a:cs typeface="Calibri"/>
            </a:endParaRPr>
          </a:p>
          <a:p>
            <a:pPr marL="756285" marR="1254760" lvl="1" indent="-287020">
              <a:lnSpc>
                <a:spcPct val="80000"/>
              </a:lnSpc>
              <a:spcBef>
                <a:spcPts val="62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Probing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performed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accordance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dirty="0">
                <a:latin typeface="Calibri"/>
                <a:cs typeface="Calibri"/>
              </a:rPr>
              <a:t>technique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open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addressing.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018664">
              <a:lnSpc>
                <a:spcPct val="100000"/>
              </a:lnSpc>
              <a:spcBef>
                <a:spcPts val="105"/>
              </a:spcBef>
            </a:pPr>
            <a:r>
              <a:rPr dirty="0"/>
              <a:t>Open</a:t>
            </a:r>
            <a:r>
              <a:rPr spc="-25" dirty="0"/>
              <a:t> </a:t>
            </a:r>
            <a:r>
              <a:rPr spc="-10" dirty="0"/>
              <a:t>Addressing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dirty="0"/>
              <a:t>Search</a:t>
            </a:r>
            <a:r>
              <a:rPr spc="-75" dirty="0"/>
              <a:t> </a:t>
            </a:r>
            <a:r>
              <a:rPr spc="-10" dirty="0"/>
              <a:t>Operation:</a:t>
            </a: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pc="-140" dirty="0"/>
              <a:t>To</a:t>
            </a:r>
            <a:r>
              <a:rPr spc="-30" dirty="0"/>
              <a:t> </a:t>
            </a:r>
            <a:r>
              <a:rPr dirty="0"/>
              <a:t>search</a:t>
            </a:r>
            <a:r>
              <a:rPr spc="-80" dirty="0"/>
              <a:t> </a:t>
            </a:r>
            <a:r>
              <a:rPr dirty="0"/>
              <a:t>any</a:t>
            </a:r>
            <a:r>
              <a:rPr spc="-35" dirty="0"/>
              <a:t> </a:t>
            </a:r>
            <a:r>
              <a:rPr dirty="0"/>
              <a:t>particular</a:t>
            </a:r>
            <a:r>
              <a:rPr spc="-55" dirty="0"/>
              <a:t> </a:t>
            </a:r>
            <a:r>
              <a:rPr spc="-20" dirty="0"/>
              <a:t>key,</a:t>
            </a:r>
          </a:p>
          <a:p>
            <a:pPr marL="756285" marR="680720" lvl="1" indent="-287020">
              <a:lnSpc>
                <a:spcPct val="80000"/>
              </a:lnSpc>
              <a:spcBef>
                <a:spcPts val="64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Its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hash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value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obtained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using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hash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function used.</a:t>
            </a:r>
            <a:endParaRPr sz="2600">
              <a:latin typeface="Calibri"/>
              <a:cs typeface="Calibri"/>
            </a:endParaRPr>
          </a:p>
          <a:p>
            <a:pPr marL="756285" marR="198120" lvl="1" indent="-287020">
              <a:lnSpc>
                <a:spcPct val="80000"/>
              </a:lnSpc>
              <a:spcBef>
                <a:spcPts val="62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Using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hash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value,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bucket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table</a:t>
            </a:r>
            <a:r>
              <a:rPr sz="2600" spc="-25" dirty="0">
                <a:latin typeface="Calibri"/>
                <a:cs typeface="Calibri"/>
              </a:rPr>
              <a:t> is </a:t>
            </a:r>
            <a:r>
              <a:rPr sz="2600" spc="-10" dirty="0">
                <a:latin typeface="Calibri"/>
                <a:cs typeface="Calibri"/>
              </a:rPr>
              <a:t>checked.</a:t>
            </a:r>
            <a:endParaRPr sz="26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If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required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key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found,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key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searched.</a:t>
            </a:r>
            <a:endParaRPr sz="2600">
              <a:latin typeface="Calibri"/>
              <a:cs typeface="Calibri"/>
            </a:endParaRPr>
          </a:p>
          <a:p>
            <a:pPr marL="756285" marR="176530" lvl="1" indent="-287020">
              <a:lnSpc>
                <a:spcPts val="2500"/>
              </a:lnSpc>
              <a:spcBef>
                <a:spcPts val="60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Otherwise,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subsequent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buckets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checked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until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required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key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empty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bucket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found.</a:t>
            </a:r>
            <a:endParaRPr sz="2600">
              <a:latin typeface="Calibri"/>
              <a:cs typeface="Calibri"/>
            </a:endParaRPr>
          </a:p>
          <a:p>
            <a:pPr marL="756285" marR="5080" lvl="1" indent="-287020">
              <a:lnSpc>
                <a:spcPts val="2500"/>
              </a:lnSpc>
              <a:spcBef>
                <a:spcPts val="61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empty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bucket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indicates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key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present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hash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table.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018664">
              <a:lnSpc>
                <a:spcPct val="100000"/>
              </a:lnSpc>
              <a:spcBef>
                <a:spcPts val="105"/>
              </a:spcBef>
            </a:pPr>
            <a:r>
              <a:rPr dirty="0"/>
              <a:t>Open</a:t>
            </a:r>
            <a:r>
              <a:rPr spc="-25" dirty="0"/>
              <a:t> </a:t>
            </a:r>
            <a:r>
              <a:rPr spc="-10" dirty="0"/>
              <a:t>Addressing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6973"/>
            <a:ext cx="7446009" cy="20675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Delete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Operation: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searched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deleted.</a:t>
            </a:r>
            <a:endParaRPr sz="280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After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deleting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key,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particular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bucket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marked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“deleted”.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037080">
              <a:lnSpc>
                <a:spcPct val="100000"/>
              </a:lnSpc>
              <a:spcBef>
                <a:spcPts val="105"/>
              </a:spcBef>
            </a:pPr>
            <a:r>
              <a:rPr dirty="0"/>
              <a:t>1.</a:t>
            </a:r>
            <a:r>
              <a:rPr spc="-25" dirty="0"/>
              <a:t> </a:t>
            </a:r>
            <a:r>
              <a:rPr dirty="0"/>
              <a:t>Linear</a:t>
            </a:r>
            <a:r>
              <a:rPr spc="10" dirty="0"/>
              <a:t> </a:t>
            </a:r>
            <a:r>
              <a:rPr spc="-10" dirty="0"/>
              <a:t>Probing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5749"/>
            <a:ext cx="7775575" cy="4203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linear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probing,</a:t>
            </a:r>
            <a:endParaRPr sz="22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When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collision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occurs,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linearly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next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bucket.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We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keep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until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empty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bucket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found.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90"/>
              </a:spcBef>
              <a:buFont typeface="Arial"/>
              <a:buChar char="–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Advantage-</a:t>
            </a:r>
            <a:endParaRPr sz="22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0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easy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compute.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90"/>
              </a:spcBef>
              <a:buFont typeface="Arial"/>
              <a:buChar char="–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Disadvantage-</a:t>
            </a:r>
            <a:endParaRPr sz="22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0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linear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clustering.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Many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consecutive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elements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form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groups.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Then,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takes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element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empty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bucket.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313305">
              <a:lnSpc>
                <a:spcPct val="100000"/>
              </a:lnSpc>
              <a:spcBef>
                <a:spcPts val="105"/>
              </a:spcBef>
            </a:pPr>
            <a:r>
              <a:rPr dirty="0"/>
              <a:t>Linear </a:t>
            </a:r>
            <a:r>
              <a:rPr spc="-10" dirty="0"/>
              <a:t>Probing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977" y="1645297"/>
            <a:ext cx="6617700" cy="489226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203325">
              <a:lnSpc>
                <a:spcPct val="100000"/>
              </a:lnSpc>
              <a:spcBef>
                <a:spcPts val="105"/>
              </a:spcBef>
            </a:pPr>
            <a:r>
              <a:rPr dirty="0"/>
              <a:t>Example-</a:t>
            </a:r>
            <a:r>
              <a:rPr spc="-80" dirty="0"/>
              <a:t> </a:t>
            </a:r>
            <a:r>
              <a:rPr dirty="0"/>
              <a:t>Linear</a:t>
            </a:r>
            <a:r>
              <a:rPr spc="-55" dirty="0"/>
              <a:t> </a:t>
            </a:r>
            <a:r>
              <a:rPr spc="-10" dirty="0"/>
              <a:t>Probing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525" y="1907441"/>
            <a:ext cx="7092514" cy="3886136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621155">
              <a:lnSpc>
                <a:spcPct val="100000"/>
              </a:lnSpc>
              <a:spcBef>
                <a:spcPts val="105"/>
              </a:spcBef>
            </a:pPr>
            <a:r>
              <a:rPr dirty="0"/>
              <a:t>2.</a:t>
            </a:r>
            <a:r>
              <a:rPr spc="-105" dirty="0"/>
              <a:t> </a:t>
            </a:r>
            <a:r>
              <a:rPr dirty="0"/>
              <a:t>Quadratic</a:t>
            </a:r>
            <a:r>
              <a:rPr spc="-90" dirty="0"/>
              <a:t> </a:t>
            </a:r>
            <a:r>
              <a:rPr spc="-10" dirty="0"/>
              <a:t>Probing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40" y="1510635"/>
            <a:ext cx="7254240" cy="27571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80365" algn="l"/>
              </a:tabLst>
            </a:pPr>
            <a:r>
              <a:rPr sz="3200" dirty="0">
                <a:latin typeface="Calibri"/>
                <a:cs typeface="Calibri"/>
              </a:rPr>
              <a:t>In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quadratic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probing,</a:t>
            </a:r>
            <a:endParaRPr sz="3200">
              <a:latin typeface="Calibri"/>
              <a:cs typeface="Calibri"/>
            </a:endParaRPr>
          </a:p>
          <a:p>
            <a:pPr marL="381000" marR="18986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81000" algn="l"/>
              </a:tabLst>
            </a:pPr>
            <a:r>
              <a:rPr sz="3200" dirty="0">
                <a:latin typeface="Calibri"/>
                <a:cs typeface="Calibri"/>
              </a:rPr>
              <a:t>When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collision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occurs,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probe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</a:t>
            </a:r>
            <a:r>
              <a:rPr sz="3150" spc="-15" baseline="25132" dirty="0">
                <a:latin typeface="Calibri"/>
                <a:cs typeface="Calibri"/>
              </a:rPr>
              <a:t>2</a:t>
            </a:r>
            <a:r>
              <a:rPr sz="3200" spc="-10" dirty="0">
                <a:latin typeface="Calibri"/>
                <a:cs typeface="Calibri"/>
              </a:rPr>
              <a:t>‘th bucket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</a:t>
            </a:r>
            <a:r>
              <a:rPr sz="3150" baseline="25132" dirty="0">
                <a:latin typeface="Calibri"/>
                <a:cs typeface="Calibri"/>
              </a:rPr>
              <a:t>th</a:t>
            </a:r>
            <a:r>
              <a:rPr sz="3150" spc="300" baseline="25132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iteration.</a:t>
            </a:r>
            <a:endParaRPr sz="3200">
              <a:latin typeface="Calibri"/>
              <a:cs typeface="Calibri"/>
            </a:endParaRPr>
          </a:p>
          <a:p>
            <a:pPr marL="381000" marR="3048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81000" algn="l"/>
              </a:tabLst>
            </a:pPr>
            <a:r>
              <a:rPr sz="3200" dirty="0">
                <a:latin typeface="Calibri"/>
                <a:cs typeface="Calibri"/>
              </a:rPr>
              <a:t>We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keep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probing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until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empty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bucket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is </a:t>
            </a:r>
            <a:r>
              <a:rPr sz="3200" spc="-10" dirty="0">
                <a:latin typeface="Calibri"/>
                <a:cs typeface="Calibri"/>
              </a:rPr>
              <a:t>found.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896745">
              <a:lnSpc>
                <a:spcPct val="100000"/>
              </a:lnSpc>
              <a:spcBef>
                <a:spcPts val="105"/>
              </a:spcBef>
            </a:pPr>
            <a:r>
              <a:rPr dirty="0"/>
              <a:t>Quadratic</a:t>
            </a:r>
            <a:r>
              <a:rPr spc="-204" dirty="0"/>
              <a:t> </a:t>
            </a:r>
            <a:r>
              <a:rPr spc="-10" dirty="0"/>
              <a:t>Probing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762" y="1519224"/>
            <a:ext cx="6677025" cy="49911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671195">
              <a:lnSpc>
                <a:spcPct val="100000"/>
              </a:lnSpc>
              <a:spcBef>
                <a:spcPts val="105"/>
              </a:spcBef>
            </a:pPr>
            <a:r>
              <a:rPr dirty="0"/>
              <a:t>Example</a:t>
            </a:r>
            <a:r>
              <a:rPr spc="-125" dirty="0"/>
              <a:t> </a:t>
            </a:r>
            <a:r>
              <a:rPr dirty="0"/>
              <a:t>–</a:t>
            </a:r>
            <a:r>
              <a:rPr spc="-85" dirty="0"/>
              <a:t> </a:t>
            </a:r>
            <a:r>
              <a:rPr dirty="0"/>
              <a:t>Quadratic</a:t>
            </a:r>
            <a:r>
              <a:rPr spc="-100" dirty="0"/>
              <a:t> </a:t>
            </a:r>
            <a:r>
              <a:rPr spc="-10" dirty="0"/>
              <a:t>Probing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949" y="1814499"/>
            <a:ext cx="7096125" cy="4029075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162175">
              <a:lnSpc>
                <a:spcPct val="100000"/>
              </a:lnSpc>
              <a:spcBef>
                <a:spcPts val="105"/>
              </a:spcBef>
            </a:pPr>
            <a:r>
              <a:rPr dirty="0"/>
              <a:t>Double</a:t>
            </a:r>
            <a:r>
              <a:rPr spc="-95" dirty="0"/>
              <a:t> </a:t>
            </a:r>
            <a:r>
              <a:rPr spc="-10" dirty="0"/>
              <a:t>Hashing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40" y="1510635"/>
            <a:ext cx="7611745" cy="27571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80365" algn="l"/>
              </a:tabLst>
            </a:pPr>
            <a:r>
              <a:rPr sz="3200" dirty="0">
                <a:latin typeface="Calibri"/>
                <a:cs typeface="Calibri"/>
              </a:rPr>
              <a:t>In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double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hashing,</a:t>
            </a:r>
            <a:endParaRPr sz="3200">
              <a:latin typeface="Calibri"/>
              <a:cs typeface="Calibri"/>
            </a:endParaRPr>
          </a:p>
          <a:p>
            <a:pPr marL="381000" marR="3048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81000" algn="l"/>
              </a:tabLst>
            </a:pPr>
            <a:r>
              <a:rPr sz="3200" dirty="0">
                <a:latin typeface="Calibri"/>
                <a:cs typeface="Calibri"/>
              </a:rPr>
              <a:t>We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another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hash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hash2(x)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dirty="0">
                <a:latin typeface="Calibri"/>
                <a:cs typeface="Calibri"/>
              </a:rPr>
              <a:t>look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*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hash2(x)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bucket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</a:t>
            </a:r>
            <a:r>
              <a:rPr sz="3150" baseline="25132" dirty="0">
                <a:latin typeface="Calibri"/>
                <a:cs typeface="Calibri"/>
              </a:rPr>
              <a:t>th</a:t>
            </a:r>
            <a:r>
              <a:rPr sz="3150" spc="300" baseline="25132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iteration.</a:t>
            </a:r>
            <a:endParaRPr sz="3200">
              <a:latin typeface="Calibri"/>
              <a:cs typeface="Calibri"/>
            </a:endParaRPr>
          </a:p>
          <a:p>
            <a:pPr marL="381000" marR="32766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81000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requires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more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computation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time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two </a:t>
            </a:r>
            <a:r>
              <a:rPr sz="3200" dirty="0">
                <a:latin typeface="Calibri"/>
                <a:cs typeface="Calibri"/>
              </a:rPr>
              <a:t>hash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functions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need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computed.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162175">
              <a:lnSpc>
                <a:spcPct val="100000"/>
              </a:lnSpc>
              <a:spcBef>
                <a:spcPts val="105"/>
              </a:spcBef>
            </a:pPr>
            <a:r>
              <a:rPr dirty="0"/>
              <a:t>Double</a:t>
            </a:r>
            <a:r>
              <a:rPr spc="-95" dirty="0"/>
              <a:t> </a:t>
            </a:r>
            <a:r>
              <a:rPr spc="-10" dirty="0"/>
              <a:t>Hashing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387" y="1581137"/>
            <a:ext cx="5991225" cy="466725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1000760">
              <a:lnSpc>
                <a:spcPct val="100000"/>
              </a:lnSpc>
              <a:spcBef>
                <a:spcPts val="105"/>
              </a:spcBef>
            </a:pPr>
            <a:r>
              <a:rPr dirty="0"/>
              <a:t>Example</a:t>
            </a:r>
            <a:r>
              <a:rPr spc="-120" dirty="0"/>
              <a:t> </a:t>
            </a:r>
            <a:r>
              <a:rPr dirty="0"/>
              <a:t>–Double</a:t>
            </a:r>
            <a:r>
              <a:rPr spc="-80" dirty="0"/>
              <a:t> </a:t>
            </a:r>
            <a:r>
              <a:rPr spc="-10" dirty="0"/>
              <a:t>Hashing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437" y="1766874"/>
            <a:ext cx="74676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24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Separate</a:t>
            </a:r>
            <a:r>
              <a:rPr sz="4000" spc="-120" dirty="0"/>
              <a:t> </a:t>
            </a:r>
            <a:r>
              <a:rPr sz="4000" dirty="0"/>
              <a:t>chaining</a:t>
            </a:r>
            <a:r>
              <a:rPr sz="4000" spc="-114" dirty="0"/>
              <a:t> </a:t>
            </a:r>
            <a:r>
              <a:rPr sz="4000" dirty="0"/>
              <a:t>Vs</a:t>
            </a:r>
            <a:r>
              <a:rPr sz="4000" spc="-105" dirty="0"/>
              <a:t> </a:t>
            </a:r>
            <a:r>
              <a:rPr sz="4000" dirty="0"/>
              <a:t>Open</a:t>
            </a:r>
            <a:r>
              <a:rPr sz="4000" spc="-90" dirty="0"/>
              <a:t> </a:t>
            </a:r>
            <a:r>
              <a:rPr sz="4000" spc="-10" dirty="0"/>
              <a:t>Addressing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4856" y="1679502"/>
            <a:ext cx="6756305" cy="4306354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9080" marR="5080" indent="-216916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Comparison</a:t>
            </a:r>
            <a:r>
              <a:rPr sz="4000" spc="-60" dirty="0"/>
              <a:t> </a:t>
            </a:r>
            <a:r>
              <a:rPr sz="4000" dirty="0"/>
              <a:t>of</a:t>
            </a:r>
            <a:r>
              <a:rPr sz="4000" spc="-60" dirty="0"/>
              <a:t> </a:t>
            </a:r>
            <a:r>
              <a:rPr sz="4000" dirty="0"/>
              <a:t>Open</a:t>
            </a:r>
            <a:r>
              <a:rPr sz="4000" spc="-50" dirty="0"/>
              <a:t> </a:t>
            </a:r>
            <a:r>
              <a:rPr sz="4000" spc="-10" dirty="0"/>
              <a:t>Addressing Techniques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094" y="2153870"/>
            <a:ext cx="8567888" cy="3052095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98958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530" y="1443949"/>
            <a:ext cx="5352669" cy="4971495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49" y="1390637"/>
            <a:ext cx="5372100" cy="4524375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674" y="390499"/>
            <a:ext cx="4371975" cy="5857874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464" rIns="0" bIns="0" rtlCol="0">
            <a:spAutoFit/>
          </a:bodyPr>
          <a:lstStyle/>
          <a:p>
            <a:pPr marL="2806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6794"/>
            <a:ext cx="7151370" cy="452882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820"/>
              </a:spcBef>
              <a:buFont typeface="Arial"/>
              <a:buChar char="•"/>
              <a:tabLst>
                <a:tab pos="355600" algn="l"/>
              </a:tabLst>
            </a:pPr>
            <a:r>
              <a:rPr sz="3000" spc="-10" dirty="0">
                <a:latin typeface="Calibri"/>
                <a:cs typeface="Calibri"/>
              </a:rPr>
              <a:t>implementation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find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leaf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count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given </a:t>
            </a:r>
            <a:r>
              <a:rPr sz="3000" dirty="0">
                <a:latin typeface="Calibri"/>
                <a:cs typeface="Calibri"/>
              </a:rPr>
              <a:t>Binary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tree</a:t>
            </a:r>
            <a:endParaRPr sz="30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Calibri"/>
                <a:cs typeface="Calibri"/>
              </a:rPr>
              <a:t>int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getLeafCount(Node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node)</a:t>
            </a:r>
            <a:endParaRPr sz="2400">
              <a:latin typeface="Calibri"/>
              <a:cs typeface="Calibri"/>
            </a:endParaRPr>
          </a:p>
          <a:p>
            <a:pPr marL="283845">
              <a:lnSpc>
                <a:spcPct val="100000"/>
              </a:lnSpc>
              <a:spcBef>
                <a:spcPts val="145"/>
              </a:spcBef>
            </a:pPr>
            <a:r>
              <a:rPr sz="2400" spc="-50" dirty="0">
                <a:latin typeface="Calibri"/>
                <a:cs typeface="Calibri"/>
              </a:rPr>
              <a:t>{</a:t>
            </a:r>
            <a:endParaRPr sz="2400">
              <a:latin typeface="Calibri"/>
              <a:cs typeface="Calibri"/>
            </a:endParaRPr>
          </a:p>
          <a:p>
            <a:pPr marL="829310" marR="4634230" indent="-27305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(node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==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null) </a:t>
            </a:r>
            <a:r>
              <a:rPr sz="2400" dirty="0">
                <a:latin typeface="Calibri"/>
                <a:cs typeface="Calibri"/>
              </a:rPr>
              <a:t>return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0;</a:t>
            </a:r>
            <a:endParaRPr sz="2400">
              <a:latin typeface="Calibri"/>
              <a:cs typeface="Calibri"/>
            </a:endParaRPr>
          </a:p>
          <a:p>
            <a:pPr marL="829310" marR="1402080" indent="-27305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(node.left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==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&amp;&amp;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node.right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==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null) </a:t>
            </a:r>
            <a:r>
              <a:rPr sz="2400" dirty="0">
                <a:latin typeface="Calibri"/>
                <a:cs typeface="Calibri"/>
              </a:rPr>
              <a:t>return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1;</a:t>
            </a:r>
            <a:endParaRPr sz="2400">
              <a:latin typeface="Calibri"/>
              <a:cs typeface="Calibri"/>
            </a:endParaRPr>
          </a:p>
          <a:p>
            <a:pPr marL="556895">
              <a:lnSpc>
                <a:spcPct val="100000"/>
              </a:lnSpc>
            </a:pPr>
            <a:r>
              <a:rPr sz="2400" spc="-20" dirty="0">
                <a:latin typeface="Calibri"/>
                <a:cs typeface="Calibri"/>
              </a:rPr>
              <a:t>else</a:t>
            </a:r>
            <a:endParaRPr sz="2400">
              <a:latin typeface="Calibri"/>
              <a:cs typeface="Calibri"/>
            </a:endParaRPr>
          </a:p>
          <a:p>
            <a:pPr marL="355600" marR="2279650" indent="473709">
              <a:lnSpc>
                <a:spcPts val="2310"/>
              </a:lnSpc>
              <a:spcBef>
                <a:spcPts val="550"/>
              </a:spcBef>
            </a:pPr>
            <a:r>
              <a:rPr sz="2400" dirty="0">
                <a:latin typeface="Calibri"/>
                <a:cs typeface="Calibri"/>
              </a:rPr>
              <a:t>return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getLeafCount(node.left)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+ </a:t>
            </a:r>
            <a:r>
              <a:rPr sz="2400" spc="-10" dirty="0">
                <a:latin typeface="Calibri"/>
                <a:cs typeface="Calibri"/>
              </a:rPr>
              <a:t>getLeafCount(node.right);</a:t>
            </a:r>
            <a:endParaRPr sz="2400">
              <a:latin typeface="Calibri"/>
              <a:cs typeface="Calibri"/>
            </a:endParaRPr>
          </a:p>
          <a:p>
            <a:pPr marL="283845">
              <a:lnSpc>
                <a:spcPct val="100000"/>
              </a:lnSpc>
              <a:spcBef>
                <a:spcPts val="15"/>
              </a:spcBef>
            </a:pPr>
            <a:r>
              <a:rPr sz="2400" spc="-50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03861"/>
            <a:ext cx="6379845" cy="418274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354965" algn="l"/>
              </a:tabLst>
            </a:pPr>
            <a:r>
              <a:rPr sz="3000" i="1" dirty="0">
                <a:latin typeface="Calibri"/>
                <a:cs typeface="Calibri"/>
              </a:rPr>
              <a:t>counting</a:t>
            </a:r>
            <a:r>
              <a:rPr sz="3000" i="1" spc="-80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the</a:t>
            </a:r>
            <a:r>
              <a:rPr sz="3000" i="1" spc="-30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number</a:t>
            </a:r>
            <a:r>
              <a:rPr sz="3000" i="1" spc="-5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of</a:t>
            </a:r>
            <a:r>
              <a:rPr sz="3000" i="1" spc="-2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nodes</a:t>
            </a:r>
            <a:r>
              <a:rPr sz="3000" i="1" spc="-4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in</a:t>
            </a:r>
            <a:r>
              <a:rPr sz="3000" i="1" spc="-2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a</a:t>
            </a:r>
            <a:r>
              <a:rPr sz="3000" i="1" spc="-35" dirty="0">
                <a:latin typeface="Calibri"/>
                <a:cs typeface="Calibri"/>
              </a:rPr>
              <a:t> </a:t>
            </a:r>
            <a:r>
              <a:rPr sz="3000" i="1" spc="-20" dirty="0">
                <a:latin typeface="Calibri"/>
                <a:cs typeface="Calibri"/>
              </a:rPr>
              <a:t>Tree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2400" dirty="0">
                <a:latin typeface="Calibri"/>
                <a:cs typeface="Calibri"/>
              </a:rPr>
              <a:t>int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countnodes(struct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*root)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{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if(root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!=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NULL)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{</a:t>
            </a:r>
            <a:endParaRPr sz="2400">
              <a:latin typeface="Calibri"/>
              <a:cs typeface="Calibri"/>
            </a:endParaRPr>
          </a:p>
          <a:p>
            <a:pPr marL="12700" marR="3286760">
              <a:lnSpc>
                <a:spcPct val="100000"/>
              </a:lnSpc>
            </a:pPr>
            <a:r>
              <a:rPr sz="2400" spc="-20" dirty="0">
                <a:latin typeface="Calibri"/>
                <a:cs typeface="Calibri"/>
              </a:rPr>
              <a:t>countnodes(root-</a:t>
            </a:r>
            <a:r>
              <a:rPr sz="2400" spc="-10" dirty="0">
                <a:latin typeface="Calibri"/>
                <a:cs typeface="Calibri"/>
              </a:rPr>
              <a:t>&gt;left); count++; </a:t>
            </a:r>
            <a:r>
              <a:rPr sz="2400" spc="-20" dirty="0">
                <a:latin typeface="Calibri"/>
                <a:cs typeface="Calibri"/>
              </a:rPr>
              <a:t>countnodes(root-</a:t>
            </a:r>
            <a:r>
              <a:rPr sz="2400" spc="-10" dirty="0">
                <a:latin typeface="Calibri"/>
                <a:cs typeface="Calibri"/>
              </a:rPr>
              <a:t>&gt;right);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return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count;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04518"/>
            <a:ext cx="61594" cy="3928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spc="-50" dirty="0">
                <a:latin typeface="Arial"/>
                <a:cs typeface="Arial"/>
              </a:rPr>
              <a:t>•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8839" y="1604518"/>
            <a:ext cx="232029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Calibri"/>
                <a:cs typeface="Calibri"/>
              </a:rPr>
              <a:t>//</a:t>
            </a:r>
            <a:r>
              <a:rPr sz="800" spc="-4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Function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to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find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k'th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smallest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element</a:t>
            </a:r>
            <a:r>
              <a:rPr sz="800" spc="-3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in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25" dirty="0">
                <a:latin typeface="Calibri"/>
                <a:cs typeface="Calibri"/>
              </a:rPr>
              <a:t>BST</a:t>
            </a:r>
            <a:endParaRPr sz="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800" dirty="0">
                <a:latin typeface="Calibri"/>
                <a:cs typeface="Calibri"/>
              </a:rPr>
              <a:t>//</a:t>
            </a:r>
            <a:r>
              <a:rPr sz="800" spc="-3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Here</a:t>
            </a:r>
            <a:r>
              <a:rPr sz="800" spc="-3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</a:t>
            </a:r>
            <a:r>
              <a:rPr sz="800" spc="-10" dirty="0">
                <a:latin typeface="Calibri"/>
                <a:cs typeface="Calibri"/>
              </a:rPr>
              <a:t> denotes </a:t>
            </a:r>
            <a:r>
              <a:rPr sz="800" dirty="0">
                <a:latin typeface="Calibri"/>
                <a:cs typeface="Calibri"/>
              </a:rPr>
              <a:t>the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number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of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nodes</a:t>
            </a:r>
            <a:r>
              <a:rPr sz="800" spc="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processed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so</a:t>
            </a:r>
            <a:r>
              <a:rPr sz="800" spc="-25" dirty="0">
                <a:latin typeface="Calibri"/>
                <a:cs typeface="Calibri"/>
              </a:rPr>
              <a:t> far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int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kthSmallest(Node*</a:t>
            </a:r>
            <a:r>
              <a:rPr sz="800" spc="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root,</a:t>
            </a:r>
            <a:r>
              <a:rPr sz="800" spc="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int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*i,</a:t>
            </a:r>
            <a:r>
              <a:rPr sz="800" spc="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int</a:t>
            </a:r>
            <a:r>
              <a:rPr sz="800" spc="5" dirty="0">
                <a:latin typeface="Calibri"/>
                <a:cs typeface="Calibri"/>
              </a:rPr>
              <a:t> </a:t>
            </a:r>
            <a:r>
              <a:rPr sz="800" spc="-35" dirty="0">
                <a:latin typeface="Calibri"/>
                <a:cs typeface="Calibri"/>
              </a:rPr>
              <a:t>k)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Calibri"/>
                <a:cs typeface="Calibri"/>
              </a:rPr>
              <a:t>{</a:t>
            </a:r>
            <a:endParaRPr sz="800">
              <a:latin typeface="Calibri"/>
              <a:cs typeface="Calibri"/>
            </a:endParaRPr>
          </a:p>
          <a:p>
            <a:pPr marL="100965">
              <a:lnSpc>
                <a:spcPct val="100000"/>
              </a:lnSpc>
            </a:pPr>
            <a:r>
              <a:rPr sz="800" dirty="0">
                <a:latin typeface="Calibri"/>
                <a:cs typeface="Calibri"/>
              </a:rPr>
              <a:t>//</a:t>
            </a:r>
            <a:r>
              <a:rPr sz="800" spc="-3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base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spc="-20" dirty="0">
                <a:latin typeface="Calibri"/>
                <a:cs typeface="Calibri"/>
              </a:rPr>
              <a:t>case</a:t>
            </a:r>
            <a:endParaRPr sz="800">
              <a:latin typeface="Calibri"/>
              <a:cs typeface="Calibri"/>
            </a:endParaRPr>
          </a:p>
          <a:p>
            <a:pPr marL="100965">
              <a:lnSpc>
                <a:spcPct val="100000"/>
              </a:lnSpc>
            </a:pPr>
            <a:r>
              <a:rPr sz="800" dirty="0">
                <a:latin typeface="Calibri"/>
                <a:cs typeface="Calibri"/>
              </a:rPr>
              <a:t>if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(root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==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nullptr)</a:t>
            </a:r>
            <a:endParaRPr sz="800">
              <a:latin typeface="Calibri"/>
              <a:cs typeface="Calibri"/>
            </a:endParaRPr>
          </a:p>
          <a:p>
            <a:pPr marL="189230">
              <a:lnSpc>
                <a:spcPct val="100000"/>
              </a:lnSpc>
            </a:pPr>
            <a:r>
              <a:rPr sz="800" dirty="0">
                <a:latin typeface="Calibri"/>
                <a:cs typeface="Calibri"/>
              </a:rPr>
              <a:t>return</a:t>
            </a:r>
            <a:r>
              <a:rPr sz="800" spc="-3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INT_MAX;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7232" y="2580258"/>
            <a:ext cx="1525270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Calibri"/>
                <a:cs typeface="Calibri"/>
              </a:rPr>
              <a:t>//</a:t>
            </a:r>
            <a:r>
              <a:rPr sz="800" spc="-3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search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in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left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subtree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800" dirty="0">
                <a:latin typeface="Calibri"/>
                <a:cs typeface="Calibri"/>
              </a:rPr>
              <a:t>int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left</a:t>
            </a:r>
            <a:r>
              <a:rPr sz="800" spc="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kthSmallest(root-</a:t>
            </a:r>
            <a:r>
              <a:rPr sz="800" dirty="0">
                <a:latin typeface="Calibri"/>
                <a:cs typeface="Calibri"/>
              </a:rPr>
              <a:t>&gt;left,</a:t>
            </a:r>
            <a:r>
              <a:rPr sz="800" spc="3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i,</a:t>
            </a:r>
            <a:r>
              <a:rPr sz="800" spc="10" dirty="0">
                <a:latin typeface="Calibri"/>
                <a:cs typeface="Calibri"/>
              </a:rPr>
              <a:t> </a:t>
            </a:r>
            <a:r>
              <a:rPr sz="800" spc="-25" dirty="0">
                <a:latin typeface="Calibri"/>
                <a:cs typeface="Calibri"/>
              </a:rPr>
              <a:t>k);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7232" y="2946019"/>
            <a:ext cx="2070100" cy="391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Calibri"/>
                <a:cs typeface="Calibri"/>
              </a:rPr>
              <a:t>//</a:t>
            </a:r>
            <a:r>
              <a:rPr sz="800" spc="-3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if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k'th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smallest</a:t>
            </a:r>
            <a:r>
              <a:rPr sz="800" spc="-3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is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found</a:t>
            </a:r>
            <a:r>
              <a:rPr sz="800" spc="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in</a:t>
            </a:r>
            <a:r>
              <a:rPr sz="800" spc="-3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left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subtree,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return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25" dirty="0">
                <a:latin typeface="Calibri"/>
                <a:cs typeface="Calibri"/>
              </a:rPr>
              <a:t>it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if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(left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!=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INT_MAX)</a:t>
            </a:r>
            <a:endParaRPr sz="800">
              <a:latin typeface="Calibri"/>
              <a:cs typeface="Calibri"/>
            </a:endParaRPr>
          </a:p>
          <a:p>
            <a:pPr marL="100965">
              <a:lnSpc>
                <a:spcPct val="100000"/>
              </a:lnSpc>
            </a:pPr>
            <a:r>
              <a:rPr sz="800" dirty="0">
                <a:latin typeface="Calibri"/>
                <a:cs typeface="Calibri"/>
              </a:rPr>
              <a:t>return</a:t>
            </a:r>
            <a:r>
              <a:rPr sz="800" spc="-3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left;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7232" y="3433698"/>
            <a:ext cx="2175510" cy="391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Calibri"/>
                <a:cs typeface="Calibri"/>
              </a:rPr>
              <a:t>//</a:t>
            </a:r>
            <a:r>
              <a:rPr sz="800" spc="-3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if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current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element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is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k'th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smallest,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return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its</a:t>
            </a:r>
            <a:r>
              <a:rPr sz="800" spc="-20" dirty="0">
                <a:latin typeface="Calibri"/>
                <a:cs typeface="Calibri"/>
              </a:rPr>
              <a:t> value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if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(++*i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==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spc="-25" dirty="0">
                <a:latin typeface="Calibri"/>
                <a:cs typeface="Calibri"/>
              </a:rPr>
              <a:t>k)</a:t>
            </a:r>
            <a:endParaRPr sz="800">
              <a:latin typeface="Calibri"/>
              <a:cs typeface="Calibri"/>
            </a:endParaRPr>
          </a:p>
          <a:p>
            <a:pPr marL="100965">
              <a:lnSpc>
                <a:spcPct val="100000"/>
              </a:lnSpc>
            </a:pPr>
            <a:r>
              <a:rPr sz="800" dirty="0">
                <a:latin typeface="Calibri"/>
                <a:cs typeface="Calibri"/>
              </a:rPr>
              <a:t>return</a:t>
            </a:r>
            <a:r>
              <a:rPr sz="800" spc="-10" dirty="0">
                <a:latin typeface="Calibri"/>
                <a:cs typeface="Calibri"/>
              </a:rPr>
              <a:t> root-&gt;data;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7232" y="3921633"/>
            <a:ext cx="14947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libri"/>
                <a:cs typeface="Calibri"/>
              </a:rPr>
              <a:t>//</a:t>
            </a:r>
            <a:r>
              <a:rPr sz="800" spc="-3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else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search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in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right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subtree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return</a:t>
            </a:r>
            <a:r>
              <a:rPr sz="800" spc="1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kthSmallest(root-</a:t>
            </a:r>
            <a:r>
              <a:rPr sz="800" dirty="0">
                <a:latin typeface="Calibri"/>
                <a:cs typeface="Calibri"/>
              </a:rPr>
              <a:t>&gt;right,</a:t>
            </a:r>
            <a:r>
              <a:rPr sz="800" spc="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i,</a:t>
            </a:r>
            <a:r>
              <a:rPr sz="800" spc="20" dirty="0">
                <a:latin typeface="Calibri"/>
                <a:cs typeface="Calibri"/>
              </a:rPr>
              <a:t> </a:t>
            </a:r>
            <a:r>
              <a:rPr sz="800" spc="-25" dirty="0">
                <a:latin typeface="Calibri"/>
                <a:cs typeface="Calibri"/>
              </a:rPr>
              <a:t>k);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8839" y="4165472"/>
            <a:ext cx="5778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latin typeface="Calibri"/>
                <a:cs typeface="Calibri"/>
              </a:rPr>
              <a:t>}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8839" y="4409313"/>
            <a:ext cx="26301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69925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libri"/>
                <a:cs typeface="Calibri"/>
              </a:rPr>
              <a:t>//</a:t>
            </a:r>
            <a:r>
              <a:rPr sz="800" spc="-4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Function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to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find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k'th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smallest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element</a:t>
            </a:r>
            <a:r>
              <a:rPr sz="800" spc="-3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in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spc="-25" dirty="0">
                <a:latin typeface="Calibri"/>
                <a:cs typeface="Calibri"/>
              </a:rPr>
              <a:t>BST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int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kthSmallest(Node*</a:t>
            </a:r>
            <a:r>
              <a:rPr sz="800" spc="3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root,</a:t>
            </a:r>
            <a:r>
              <a:rPr sz="800" spc="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int</a:t>
            </a:r>
            <a:r>
              <a:rPr sz="800" spc="5" dirty="0">
                <a:latin typeface="Calibri"/>
                <a:cs typeface="Calibri"/>
              </a:rPr>
              <a:t> </a:t>
            </a:r>
            <a:r>
              <a:rPr sz="800" spc="-25" dirty="0">
                <a:latin typeface="Calibri"/>
                <a:cs typeface="Calibri"/>
              </a:rPr>
              <a:t>k)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latin typeface="Calibri"/>
                <a:cs typeface="Calibri"/>
              </a:rPr>
              <a:t>{</a:t>
            </a:r>
            <a:endParaRPr sz="800">
              <a:latin typeface="Calibri"/>
              <a:cs typeface="Calibri"/>
            </a:endParaRPr>
          </a:p>
          <a:p>
            <a:pPr marL="100965" marR="508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latin typeface="Calibri"/>
                <a:cs typeface="Calibri"/>
              </a:rPr>
              <a:t>//</a:t>
            </a:r>
            <a:r>
              <a:rPr sz="800" spc="-4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maintain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index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to</a:t>
            </a:r>
            <a:r>
              <a:rPr sz="800" spc="-3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count</a:t>
            </a:r>
            <a:r>
              <a:rPr sz="800" spc="-3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number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of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nodes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processed</a:t>
            </a:r>
            <a:r>
              <a:rPr sz="800" spc="-2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so</a:t>
            </a:r>
            <a:r>
              <a:rPr sz="800" spc="-35" dirty="0">
                <a:latin typeface="Calibri"/>
                <a:cs typeface="Calibri"/>
              </a:rPr>
              <a:t> </a:t>
            </a:r>
            <a:r>
              <a:rPr sz="800" spc="-25" dirty="0">
                <a:latin typeface="Calibri"/>
                <a:cs typeface="Calibri"/>
              </a:rPr>
              <a:t>far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int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=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spc="-25" dirty="0">
                <a:latin typeface="Calibri"/>
                <a:cs typeface="Calibri"/>
              </a:rPr>
              <a:t>0;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7232" y="5140833"/>
            <a:ext cx="26149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alibri"/>
                <a:cs typeface="Calibri"/>
              </a:rPr>
              <a:t>//</a:t>
            </a:r>
            <a:r>
              <a:rPr sz="800" spc="-3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traverse</a:t>
            </a:r>
            <a:r>
              <a:rPr sz="800" spc="-3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the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tree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in</a:t>
            </a:r>
            <a:r>
              <a:rPr sz="800" spc="-2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in-</a:t>
            </a:r>
            <a:r>
              <a:rPr sz="800" dirty="0">
                <a:latin typeface="Calibri"/>
                <a:cs typeface="Calibri"/>
              </a:rPr>
              <a:t>order</a:t>
            </a:r>
            <a:r>
              <a:rPr sz="800" spc="-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fashion</a:t>
            </a:r>
            <a:r>
              <a:rPr sz="800" spc="-1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and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return</a:t>
            </a:r>
            <a:r>
              <a:rPr sz="800" spc="-1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k'th</a:t>
            </a:r>
            <a:r>
              <a:rPr sz="800" spc="-3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element</a:t>
            </a:r>
            <a:r>
              <a:rPr sz="800" spc="500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return</a:t>
            </a:r>
            <a:r>
              <a:rPr sz="800" spc="1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kthSmallest(root,</a:t>
            </a:r>
            <a:r>
              <a:rPr sz="800" spc="2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&amp;i,</a:t>
            </a:r>
            <a:r>
              <a:rPr sz="800" spc="20" dirty="0">
                <a:latin typeface="Calibri"/>
                <a:cs typeface="Calibri"/>
              </a:rPr>
              <a:t> </a:t>
            </a:r>
            <a:r>
              <a:rPr sz="800" spc="-25" dirty="0">
                <a:latin typeface="Calibri"/>
                <a:cs typeface="Calibri"/>
              </a:rPr>
              <a:t>k);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8839" y="5385053"/>
            <a:ext cx="5778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latin typeface="Calibri"/>
                <a:cs typeface="Calibri"/>
              </a:rPr>
              <a:t>}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80134"/>
            <a:ext cx="5857240" cy="391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libri"/>
                <a:cs typeface="Calibri"/>
              </a:rPr>
              <a:t>//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Function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determine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if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given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Binary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Tree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BST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not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keeping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50" dirty="0">
                <a:latin typeface="Calibri"/>
                <a:cs typeface="Calibri"/>
              </a:rPr>
              <a:t>a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latin typeface="Calibri"/>
                <a:cs typeface="Calibri"/>
              </a:rPr>
              <a:t>//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valid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range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(starting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from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[MIN_VALUE,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MAX_VALUE])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keep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shrinking</a:t>
            </a:r>
            <a:endParaRPr sz="1500">
              <a:latin typeface="Calibri"/>
              <a:cs typeface="Calibri"/>
            </a:endParaRPr>
          </a:p>
          <a:p>
            <a:pPr marL="12700" marR="1886585">
              <a:lnSpc>
                <a:spcPct val="100000"/>
              </a:lnSpc>
            </a:pPr>
            <a:r>
              <a:rPr sz="1500" dirty="0">
                <a:latin typeface="Calibri"/>
                <a:cs typeface="Calibri"/>
              </a:rPr>
              <a:t>//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down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each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node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go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down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recursively </a:t>
            </a:r>
            <a:r>
              <a:rPr sz="1500" dirty="0">
                <a:latin typeface="Calibri"/>
                <a:cs typeface="Calibri"/>
              </a:rPr>
              <a:t>bool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isBST(Node*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node,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minKey,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maxKey)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500" spc="-50" dirty="0">
                <a:latin typeface="Calibri"/>
                <a:cs typeface="Calibri"/>
              </a:rPr>
              <a:t>{</a:t>
            </a:r>
            <a:endParaRPr sz="1500">
              <a:latin typeface="Calibri"/>
              <a:cs typeface="Calibri"/>
            </a:endParaRPr>
          </a:p>
          <a:p>
            <a:pPr marL="181610">
              <a:lnSpc>
                <a:spcPct val="100000"/>
              </a:lnSpc>
            </a:pPr>
            <a:r>
              <a:rPr sz="1500" dirty="0">
                <a:latin typeface="Calibri"/>
                <a:cs typeface="Calibri"/>
              </a:rPr>
              <a:t>//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base </a:t>
            </a:r>
            <a:r>
              <a:rPr sz="1500" spc="-20" dirty="0">
                <a:latin typeface="Calibri"/>
                <a:cs typeface="Calibri"/>
              </a:rPr>
              <a:t>case</a:t>
            </a:r>
            <a:endParaRPr sz="1500">
              <a:latin typeface="Calibri"/>
              <a:cs typeface="Calibri"/>
            </a:endParaRPr>
          </a:p>
          <a:p>
            <a:pPr marL="353695" marR="4329430" indent="-172720">
              <a:lnSpc>
                <a:spcPct val="100000"/>
              </a:lnSpc>
            </a:pPr>
            <a:r>
              <a:rPr sz="1500" dirty="0">
                <a:latin typeface="Calibri"/>
                <a:cs typeface="Calibri"/>
              </a:rPr>
              <a:t>if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(node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==</a:t>
            </a:r>
            <a:r>
              <a:rPr sz="1500" spc="-20" dirty="0">
                <a:latin typeface="Calibri"/>
                <a:cs typeface="Calibri"/>
              </a:rPr>
              <a:t> NULL) </a:t>
            </a:r>
            <a:r>
              <a:rPr sz="1500" dirty="0">
                <a:latin typeface="Calibri"/>
                <a:cs typeface="Calibri"/>
              </a:rPr>
              <a:t>return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true;</a:t>
            </a:r>
            <a:endParaRPr sz="1500">
              <a:latin typeface="Calibri"/>
              <a:cs typeface="Calibri"/>
            </a:endParaRPr>
          </a:p>
          <a:p>
            <a:pPr marL="181610">
              <a:lnSpc>
                <a:spcPct val="100000"/>
              </a:lnSpc>
              <a:spcBef>
                <a:spcPts val="1800"/>
              </a:spcBef>
            </a:pPr>
            <a:r>
              <a:rPr sz="1500" dirty="0">
                <a:latin typeface="Calibri"/>
                <a:cs typeface="Calibri"/>
              </a:rPr>
              <a:t>//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if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node's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value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fall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outside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valid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range</a:t>
            </a:r>
            <a:endParaRPr sz="1500">
              <a:latin typeface="Calibri"/>
              <a:cs typeface="Calibri"/>
            </a:endParaRPr>
          </a:p>
          <a:p>
            <a:pPr marL="353695" marR="1830705" indent="-172720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latin typeface="Calibri"/>
                <a:cs typeface="Calibri"/>
              </a:rPr>
              <a:t>if</a:t>
            </a:r>
            <a:r>
              <a:rPr sz="1500" spc="-10" dirty="0">
                <a:latin typeface="Calibri"/>
                <a:cs typeface="Calibri"/>
              </a:rPr>
              <a:t> (node-</a:t>
            </a:r>
            <a:r>
              <a:rPr sz="1500" dirty="0">
                <a:latin typeface="Calibri"/>
                <a:cs typeface="Calibri"/>
              </a:rPr>
              <a:t>&gt;data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&lt;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minKey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||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node-</a:t>
            </a:r>
            <a:r>
              <a:rPr sz="1500" dirty="0">
                <a:latin typeface="Calibri"/>
                <a:cs typeface="Calibri"/>
              </a:rPr>
              <a:t>&gt;data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&gt;</a:t>
            </a:r>
            <a:r>
              <a:rPr sz="1500" spc="-10" dirty="0">
                <a:latin typeface="Calibri"/>
                <a:cs typeface="Calibri"/>
              </a:rPr>
              <a:t> maxKey) </a:t>
            </a:r>
            <a:r>
              <a:rPr sz="1500" dirty="0">
                <a:latin typeface="Calibri"/>
                <a:cs typeface="Calibri"/>
              </a:rPr>
              <a:t>return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false;</a:t>
            </a:r>
            <a:endParaRPr sz="1500">
              <a:latin typeface="Calibri"/>
              <a:cs typeface="Calibri"/>
            </a:endParaRPr>
          </a:p>
          <a:p>
            <a:pPr marL="181610" marR="851535">
              <a:lnSpc>
                <a:spcPct val="100000"/>
              </a:lnSpc>
              <a:spcBef>
                <a:spcPts val="1800"/>
              </a:spcBef>
            </a:pPr>
            <a:r>
              <a:rPr sz="1500" dirty="0">
                <a:latin typeface="Calibri"/>
                <a:cs typeface="Calibri"/>
              </a:rPr>
              <a:t>//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recursively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check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left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right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subtrees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updated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range </a:t>
            </a:r>
            <a:r>
              <a:rPr sz="1500" dirty="0">
                <a:latin typeface="Calibri"/>
                <a:cs typeface="Calibri"/>
              </a:rPr>
              <a:t>return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isBST(node-</a:t>
            </a:r>
            <a:r>
              <a:rPr sz="1500" dirty="0">
                <a:latin typeface="Calibri"/>
                <a:cs typeface="Calibri"/>
              </a:rPr>
              <a:t>&gt;left,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minKey,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node-</a:t>
            </a:r>
            <a:r>
              <a:rPr sz="1500" dirty="0">
                <a:latin typeface="Calibri"/>
                <a:cs typeface="Calibri"/>
              </a:rPr>
              <a:t>&gt;data)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&amp;&amp;</a:t>
            </a:r>
            <a:endParaRPr sz="1500">
              <a:latin typeface="Calibri"/>
              <a:cs typeface="Calibri"/>
            </a:endParaRPr>
          </a:p>
          <a:p>
            <a:pPr marL="524510">
              <a:lnSpc>
                <a:spcPct val="100000"/>
              </a:lnSpc>
            </a:pPr>
            <a:r>
              <a:rPr sz="1500" spc="-10" dirty="0">
                <a:latin typeface="Calibri"/>
                <a:cs typeface="Calibri"/>
              </a:rPr>
              <a:t>isBST(node-</a:t>
            </a:r>
            <a:r>
              <a:rPr sz="1500" dirty="0">
                <a:latin typeface="Calibri"/>
                <a:cs typeface="Calibri"/>
              </a:rPr>
              <a:t>&gt;right,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node-</a:t>
            </a:r>
            <a:r>
              <a:rPr sz="1500" dirty="0">
                <a:latin typeface="Calibri"/>
                <a:cs typeface="Calibri"/>
              </a:rPr>
              <a:t>&gt;data,</a:t>
            </a:r>
            <a:r>
              <a:rPr sz="1500" spc="-10" dirty="0">
                <a:latin typeface="Calibri"/>
                <a:cs typeface="Calibri"/>
              </a:rPr>
              <a:t> maxKey);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500" spc="-50" dirty="0">
                <a:latin typeface="Calibri"/>
                <a:cs typeface="Calibri"/>
              </a:rPr>
              <a:t>}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904" y="4313301"/>
            <a:ext cx="22205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/*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larger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*/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(lDepth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rDepth)</a:t>
            </a:r>
            <a:endParaRPr sz="1800">
              <a:latin typeface="Calibri"/>
              <a:cs typeface="Calibri"/>
            </a:endParaRPr>
          </a:p>
          <a:p>
            <a:pPr marL="12700" marR="114300" indent="208279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return(lDepth+1); </a:t>
            </a:r>
            <a:r>
              <a:rPr sz="1800" dirty="0">
                <a:latin typeface="Calibri"/>
                <a:cs typeface="Calibri"/>
              </a:rPr>
              <a:t>else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return(rDepth+1);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69465"/>
            <a:ext cx="453898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int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maxDepth(struct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node*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node)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510540" indent="-497840">
              <a:lnSpc>
                <a:spcPct val="100000"/>
              </a:lnSpc>
              <a:buFont typeface="Arial"/>
              <a:buChar char="•"/>
              <a:tabLst>
                <a:tab pos="510540" algn="l"/>
              </a:tabLst>
            </a:pPr>
            <a:r>
              <a:rPr sz="1800" dirty="0">
                <a:latin typeface="Calibri"/>
                <a:cs typeface="Calibri"/>
              </a:rPr>
              <a:t>if </a:t>
            </a:r>
            <a:r>
              <a:rPr sz="1800" spc="-10" dirty="0">
                <a:latin typeface="Calibri"/>
                <a:cs typeface="Calibri"/>
              </a:rPr>
              <a:t>(node==NULL)</a:t>
            </a:r>
            <a:endParaRPr sz="1800">
              <a:latin typeface="Calibri"/>
              <a:cs typeface="Calibri"/>
            </a:endParaRPr>
          </a:p>
          <a:p>
            <a:pPr marL="721360" indent="-708660">
              <a:lnSpc>
                <a:spcPct val="100000"/>
              </a:lnSpc>
              <a:buFont typeface="Arial"/>
              <a:buChar char="•"/>
              <a:tabLst>
                <a:tab pos="721360" algn="l"/>
              </a:tabLst>
            </a:pPr>
            <a:r>
              <a:rPr sz="1800" dirty="0">
                <a:latin typeface="Calibri"/>
                <a:cs typeface="Calibri"/>
              </a:rPr>
              <a:t>return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0;</a:t>
            </a:r>
            <a:endParaRPr sz="1800">
              <a:latin typeface="Calibri"/>
              <a:cs typeface="Calibri"/>
            </a:endParaRPr>
          </a:p>
          <a:p>
            <a:pPr marL="510540" indent="-497840">
              <a:lnSpc>
                <a:spcPct val="100000"/>
              </a:lnSpc>
              <a:buFont typeface="Arial"/>
              <a:buChar char="•"/>
              <a:tabLst>
                <a:tab pos="510540" algn="l"/>
              </a:tabLst>
            </a:pPr>
            <a:r>
              <a:rPr sz="1800" spc="-20" dirty="0">
                <a:latin typeface="Calibri"/>
                <a:cs typeface="Calibri"/>
              </a:rPr>
              <a:t>else</a:t>
            </a:r>
            <a:endParaRPr sz="1800">
              <a:latin typeface="Calibri"/>
              <a:cs typeface="Calibri"/>
            </a:endParaRPr>
          </a:p>
          <a:p>
            <a:pPr marL="510540" indent="-497840">
              <a:lnSpc>
                <a:spcPct val="100000"/>
              </a:lnSpc>
              <a:buFont typeface="Arial"/>
              <a:buChar char="•"/>
              <a:tabLst>
                <a:tab pos="510540" algn="l"/>
              </a:tabLst>
            </a:pP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721360" indent="-708660">
              <a:lnSpc>
                <a:spcPct val="100000"/>
              </a:lnSpc>
              <a:buFont typeface="Arial"/>
              <a:buChar char="•"/>
              <a:tabLst>
                <a:tab pos="721360" algn="l"/>
              </a:tabLst>
            </a:pPr>
            <a:r>
              <a:rPr sz="1800" dirty="0">
                <a:latin typeface="Calibri"/>
                <a:cs typeface="Calibri"/>
              </a:rPr>
              <a:t>/*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compute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depth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subtree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*/</a:t>
            </a:r>
            <a:endParaRPr sz="1800">
              <a:latin typeface="Calibri"/>
              <a:cs typeface="Calibri"/>
            </a:endParaRPr>
          </a:p>
          <a:p>
            <a:pPr marL="721360" indent="-708660">
              <a:lnSpc>
                <a:spcPct val="100000"/>
              </a:lnSpc>
              <a:buFont typeface="Arial"/>
              <a:buChar char="•"/>
              <a:tabLst>
                <a:tab pos="721360" algn="l"/>
              </a:tabLst>
            </a:pPr>
            <a:r>
              <a:rPr sz="1800" dirty="0">
                <a:latin typeface="Calibri"/>
                <a:cs typeface="Calibri"/>
              </a:rPr>
              <a:t>int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lDepth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maxDepth(node-&gt;left);</a:t>
            </a:r>
            <a:endParaRPr sz="1800">
              <a:latin typeface="Calibri"/>
              <a:cs typeface="Calibri"/>
            </a:endParaRPr>
          </a:p>
          <a:p>
            <a:pPr marL="721360" indent="-70866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721360" algn="l"/>
              </a:tabLst>
            </a:pPr>
            <a:r>
              <a:rPr sz="1800" dirty="0">
                <a:latin typeface="Calibri"/>
                <a:cs typeface="Calibri"/>
              </a:rPr>
              <a:t>int rDepth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maxDepth(node-</a:t>
            </a:r>
            <a:r>
              <a:rPr sz="1800" spc="-10" dirty="0">
                <a:latin typeface="Calibri"/>
                <a:cs typeface="Calibri"/>
              </a:rPr>
              <a:t>&gt;right);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510540" indent="-497840">
              <a:lnSpc>
                <a:spcPct val="100000"/>
              </a:lnSpc>
              <a:buFont typeface="Arial"/>
              <a:buChar char="•"/>
              <a:tabLst>
                <a:tab pos="510540" algn="l"/>
              </a:tabLst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9900" y="1457325"/>
            <a:ext cx="312420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0751" y="2533650"/>
            <a:ext cx="5762625" cy="1828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6075" y="4752987"/>
            <a:ext cx="2981325" cy="106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4847</Words>
  <Application>Microsoft Office PowerPoint</Application>
  <PresentationFormat>On-screen Show (4:3)</PresentationFormat>
  <Paragraphs>592</Paragraphs>
  <Slides>114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17" baseType="lpstr">
      <vt:lpstr>Arial</vt:lpstr>
      <vt:lpstr>Calibri</vt:lpstr>
      <vt:lpstr>Office Theme</vt:lpstr>
      <vt:lpstr>DATA STRUCTURES – Trees &amp; Hashing</vt:lpstr>
      <vt:lpstr>Trees - Introduction</vt:lpstr>
      <vt:lpstr>Properties of Trees</vt:lpstr>
      <vt:lpstr>Tree Applications</vt:lpstr>
      <vt:lpstr>Tree terminologies</vt:lpstr>
      <vt:lpstr>Tree terminologies</vt:lpstr>
      <vt:lpstr>Root</vt:lpstr>
      <vt:lpstr>Edge</vt:lpstr>
      <vt:lpstr>Parent</vt:lpstr>
      <vt:lpstr>Child</vt:lpstr>
      <vt:lpstr>Siblings</vt:lpstr>
      <vt:lpstr>Degree</vt:lpstr>
      <vt:lpstr>Internal node</vt:lpstr>
      <vt:lpstr>Leaf node</vt:lpstr>
      <vt:lpstr>Level</vt:lpstr>
      <vt:lpstr>Height</vt:lpstr>
      <vt:lpstr>Depth</vt:lpstr>
      <vt:lpstr>Subtree</vt:lpstr>
      <vt:lpstr>Forest</vt:lpstr>
      <vt:lpstr>Code a Tree</vt:lpstr>
      <vt:lpstr>PowerPoint Presentation</vt:lpstr>
      <vt:lpstr>PowerPoint Presentation</vt:lpstr>
      <vt:lpstr>Types of Tree</vt:lpstr>
      <vt:lpstr>Binary Tree</vt:lpstr>
      <vt:lpstr>Unlabeled Binary Tree</vt:lpstr>
      <vt:lpstr>Example</vt:lpstr>
      <vt:lpstr>Labeled Binary Tree</vt:lpstr>
      <vt:lpstr>Example</vt:lpstr>
      <vt:lpstr>Types of Binary Trees</vt:lpstr>
      <vt:lpstr>Rooted Binary Tree</vt:lpstr>
      <vt:lpstr>Full/Strictly Binary Tree</vt:lpstr>
      <vt:lpstr>Complete /Perfect Binary Tree</vt:lpstr>
      <vt:lpstr>Almost Complete Binary Tree</vt:lpstr>
      <vt:lpstr>Skewed Binary Tree</vt:lpstr>
      <vt:lpstr>Tree Traversal</vt:lpstr>
      <vt:lpstr>Tree traversal techniques</vt:lpstr>
      <vt:lpstr>Depth First Traversal</vt:lpstr>
      <vt:lpstr>Preorder Traversal</vt:lpstr>
      <vt:lpstr>PowerPoint Presentation</vt:lpstr>
      <vt:lpstr>Inorder Traversal</vt:lpstr>
      <vt:lpstr>PowerPoint Presentation</vt:lpstr>
      <vt:lpstr>Postorder Traversal</vt:lpstr>
      <vt:lpstr>PowerPoint Presentation</vt:lpstr>
      <vt:lpstr>Breadth First Search</vt:lpstr>
      <vt:lpstr>Binary Search Tree construction</vt:lpstr>
      <vt:lpstr>BST construction</vt:lpstr>
      <vt:lpstr>Example</vt:lpstr>
      <vt:lpstr>PowerPoint Presentation</vt:lpstr>
      <vt:lpstr>PowerPoint Presentation</vt:lpstr>
      <vt:lpstr>PowerPoint Presentation</vt:lpstr>
      <vt:lpstr>Practice problem</vt:lpstr>
      <vt:lpstr>Practice problem</vt:lpstr>
      <vt:lpstr>C code – BST construction</vt:lpstr>
      <vt:lpstr>BST Traversal</vt:lpstr>
      <vt:lpstr>C Code – BST Traversal</vt:lpstr>
      <vt:lpstr>C Code – BST Traversal</vt:lpstr>
      <vt:lpstr>C Code – BST Traversal</vt:lpstr>
      <vt:lpstr>Practice</vt:lpstr>
      <vt:lpstr>Problem-2</vt:lpstr>
      <vt:lpstr>BST Operations</vt:lpstr>
      <vt:lpstr>Search Operation</vt:lpstr>
      <vt:lpstr>PowerPoint Presentation</vt:lpstr>
      <vt:lpstr>C Code – BST Search Operation</vt:lpstr>
      <vt:lpstr>Insertion operation</vt:lpstr>
      <vt:lpstr>PowerPoint Presentation</vt:lpstr>
      <vt:lpstr>C Code – Insertion Operation</vt:lpstr>
      <vt:lpstr>Deletion Operation</vt:lpstr>
      <vt:lpstr>Case-01: Deletion Of A Node Having No Child (Leaf Node)</vt:lpstr>
      <vt:lpstr>Case-02: Deletion Of A Node Having Only One Child</vt:lpstr>
      <vt:lpstr>Case-03: Deletion Of A Node Having Two Children</vt:lpstr>
      <vt:lpstr>PowerPoint Presentation</vt:lpstr>
      <vt:lpstr>C code – BST deletion</vt:lpstr>
      <vt:lpstr>Hashing</vt:lpstr>
      <vt:lpstr>Hashing Mechanism</vt:lpstr>
      <vt:lpstr>Hash Key value</vt:lpstr>
      <vt:lpstr>Hash Function</vt:lpstr>
      <vt:lpstr>Types of Hash Functions</vt:lpstr>
      <vt:lpstr>Properties of Hash Function</vt:lpstr>
      <vt:lpstr>Collision in Hashing</vt:lpstr>
      <vt:lpstr>Collision Resolution Techniques</vt:lpstr>
      <vt:lpstr>Separate Chaining</vt:lpstr>
      <vt:lpstr>Example-Separate Chaining</vt:lpstr>
      <vt:lpstr>Step-1</vt:lpstr>
      <vt:lpstr>Step-2</vt:lpstr>
      <vt:lpstr>Step-3</vt:lpstr>
      <vt:lpstr>Step-4</vt:lpstr>
      <vt:lpstr>Step-5</vt:lpstr>
      <vt:lpstr>Step-6</vt:lpstr>
      <vt:lpstr>Step-7</vt:lpstr>
      <vt:lpstr>Open Addressing</vt:lpstr>
      <vt:lpstr>Operations in Open Addressing</vt:lpstr>
      <vt:lpstr>Open Addressing</vt:lpstr>
      <vt:lpstr>Open Addressing</vt:lpstr>
      <vt:lpstr>1. Linear Probing</vt:lpstr>
      <vt:lpstr>Linear Probing</vt:lpstr>
      <vt:lpstr>Example- Linear Probing</vt:lpstr>
      <vt:lpstr>2. Quadratic Probing</vt:lpstr>
      <vt:lpstr>Quadratic Probing</vt:lpstr>
      <vt:lpstr>Example – Quadratic Probing</vt:lpstr>
      <vt:lpstr>Double Hashing</vt:lpstr>
      <vt:lpstr>Double Hashing</vt:lpstr>
      <vt:lpstr>Example –Double Hashing</vt:lpstr>
      <vt:lpstr>Separate chaining Vs Open Addressing</vt:lpstr>
      <vt:lpstr>Comparison of Open Addressing Techniques</vt:lpstr>
      <vt:lpstr>Example</vt:lpstr>
      <vt:lpstr>PowerPoint Presentation</vt:lpstr>
      <vt:lpstr>PowerPoint Presentation</vt:lpstr>
      <vt:lpstr>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creator>bmsce</dc:creator>
  <cp:lastModifiedBy>deepa ganu</cp:lastModifiedBy>
  <cp:revision>3</cp:revision>
  <dcterms:created xsi:type="dcterms:W3CDTF">2026-04-02T03:05:30Z</dcterms:created>
  <dcterms:modified xsi:type="dcterms:W3CDTF">2026-04-02T03:23:37Z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2022-02-11T00:00:00Z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2026-04-02T00:00:00Z</vt:filetime>
  </property>
  <property fmtid="{D5CDD505-2E9C-101B-9397-08002B2CF9AE}" pid="5" name="Producer">
    <vt:lpwstr>Microsoft® Office PowerPoint® 2007</vt:lpwstr>
  </property>
</Properties>
</file>